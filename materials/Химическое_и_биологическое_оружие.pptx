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Доклад на 10–12 минут. Цель: дать системное представление о химическом и биологическом оружии: что это, чем они отличаются от обычных средств поражения, как применялись в истории, как классифицируются, чем защищаются войска и население, и как это регулируется международным правом сегодня.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ОМП трёх видов. Ключевая мысль слайда: химическое и биологическое оружие бьют по людям и биосфере, не разрушая инфраструктуру. Поэтому их часто называют «оружием бедных» и оружием террористов. Ядерное оружие упоминаем только для системы координат — в докладе оно дальше не рассматривается.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Даю определение прямо по тексту КЗХО — это важно юридически: запрещено не «оружие вообще», а конкретно токсичные химикаты, прекурсоры, боеприпасы и оборудование. Отдельно отмечаю: ОВ поражает людей, но не разрушает города — именно поэтому его применяли и в Ирано-иракскую войну, и террористы.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дата: 22 апреля 1915 года, Ипр, немецкая газовая атака хлором. Эффект был ошеломительным: образовалась брешь во фронте шириной в несколько километров. Ответ — противогазы; у нас угольный противогаз Зелинского (1915), спасший, по оценкам, сотни тысяч жизней. В 1917 году появляется иприт — ОВ, против которого противогаз уже неполноценная защита, нужна защита кожи. Так химическая война породила современную систему РХБЗ.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Важный тезис: Женевский протокол 1925 года запрещал применение, но не производство и хранение, и не имел механизма проверки. Поэтому Италия в Эфиопии, Япония в Китае, США во Вьетнаме (дефолианты), Ирак против Ирана — все эти эпизоды случились уже после 1925 года. Итог: запрет без проверки и без запрета разработки не работает.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Халабджа — символ химического террора против мирных жителей: погибли тысячи, последствия — десятилетия болезней. Токио-1995 — перелом: зарин в метро применила не армия, а религиозная секта. Это показало: порог входа снизился. Секта пыталась создать и биологическое оружие (сибирская язва, ботулотоксин), но не справилась с технологией распыления.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Актуальная часть. Гута-2013 — крупнейшая атака века; Сирия присоединилась к КЗХО в сентябре 2013-го. Солсбери-2018 — «Новичок», то есть новые разработки, а не старые запасы; то же по Навальному (подтверждено ОЗХО). По Украине: три доклада ОЗХО (ноябрь 2024, февраль и июнь 2025) подтвердили CS в гранатах и пробах почвы — КЗХО запрещает РВБ как средство ведения войны, стороны обвиняют друг друга. Сирия-2026: ОЗХО продолжает находить незадекларированные объекты и боеприпасы.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групп по физиологическому действию. Самые опасные — нервно-паралитические (зарин, зоман, VX, «Новичок»): блокируют холинэстеразу, смерть от удушья. Для каждой группы называю типичный признак и антидот: миоз и судороги — атропин; пузыри на коже — иприт; запах горького миндаля и быстрая смерть — синильная кислота; отёк лёгких — хлор и фосген. Практический вывод: вид симптомов определяет, какой антидот вводить.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Доставка: от классических артснарядов до БПЛА с распылителем и диверсий в метро — это показывает диапазон от армии до одиночки. Признаки применения — то, что первым видит наблюдатель: масляные пятна от иприта или VX, массовые однотипные симптомы, погибшие насекомые. Действия: противогаз, выход перпендикулярно ветру, санитарная обработка, дегазация.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направлений защиты. Индивидуальная: противогаз + средства защиты кожи — противогаз один не спасает от иприта и VX, которые действуют через кожу. Коллективная: убежища с фильтровентиляцией, герметичная техника. Медицинская: антидоты вводятся как можно раньше — атропин при ФОВ, амилнитрит при цианидах. Специальная обработка: дегазация и санобработка. И организационные меры: разведка, оповещение, зоны заражения.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КЗХО — самая успешная из конвенций по ОМП: есть запрет разработки и хранения, есть инспекции. 193 государства-участника, 72 304 т уничтожены — последнюю единицу уничтожили в США 7 июля 2023 года (Россия завершила уничтожение ещё в 2017-м, около 40 тыс. т). Остаются три категории проблем: неучастники (Египет, КНДР, Южный Судан), незадекларированные запасы Сирии, и применение РВБ (CS) как средства войны.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про практику. США закрыли последний объект в июле 2023-го, Россия — ещё в сентябре 2017-го (около 40 тыс. т, крупнейшая программа). Сирия в 2013–2014 годах вывозила запасы, часть нейтрализовали на судне Cape Ray прямо в море. Итог: 72 304 т уничтожено под международным контролем — химическое оружие стало первой категорией ОМП, ликвидированной полностью (по объявленным запасам).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Определение БО — живые агенты и их токсины. Пять отличий от ХО: инкубационный период (не сразу), заразность (передаётся дальше), самораспространение (неуправляемо), огромная площадь при мизерной цене, скрытность применения. Именно поэтому БО называют «атомной бомбой бедняка». КБТО 1972 года запрещает разработку, производство и накопление — но, в отличие от КЗХО, механизма проверки нет до сих пор.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 БО древнее, чем кажется: Каффа-1346 — трупы через стены; Форт-Питт-1763 — одеяла из оспенного госпиталя. XX век: японский отряд 731 в Маньчжурии — опыты на людях, заражённые бомбы, тысячи погибших. Свердловск-1979 — аварийный выброс спор сибирской язвы, 64–66 погибших. 2001 год, США: письма со спорами — 22 заболевших, 5 погибших — показали, что для теракта достаточно конверта и почтовой марки.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группы агентов: бактерии (лечатся антибиотиками), вирусы (антибиотики бесполезны), риккетсии, токсины (не живые, но сильнейшие яды — ботулотоксин, рицин). Плюс классификация CDC по приоритету: А — самое опасное и заразное (сибирская язва, оспа, чума, туляремия, ботулизм, геморрагические лихорадки); B — умеренные; C — новые/модифицируемые. Эта категоризация используется во многих странах для планирования готовности здравоохранения.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Защита от БО — это в основном эпидемиология, а не только противогазы. Специфическая: вакцины до контакта и антибиотикопрофилактика после. Режимные меры: карантин — это полная изоляция с охраной, обсервация — медицинское наблюдение; разницу любят спрашивать. Дезинфекция, дезинсекция, дератизация. И лабораторная готовность: BSL-3/BSL-4, запасы вакцин и антибиотиков. Смысл: выявить очаг раньше, чем эпидемия станет неуправляемой.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асимметрия: КБТО запрещает всё, но проверять некому — протокол о проверках сорван в 2001 году, с 2023-го работает Рабочая группа по усилению конвенции. Угрозы растут: синтетическая биология делает синтез геномов дешевле, ИИ помогает подбирать варианты; двойные технологии стирают границу между легальной лабораторией и военной программой. Отсюда вывод: готовность здравоохранения важнее, чем военные запасы.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таблица доклада. Если времени мало — говорим по ней. Ключевые контрасты: ХО действует сразу и локально, БО — через инкубационный период и может уйти в эпидемию; у ХО есть быстрые антидоты и жёсткая конвенция с инспекциями, у БО — вакцины и карантин, а конвенция без механизма проверки. По сути: ХО — оружие управляемого удара, БО — оружие неуправляемого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выводов. Коротко: химическое оружие как категория уничтожено, но угроза жива за счёт новых агентов и терроризма; биологическое оружие запрещено, но бесконтрольно; защиты разные по природе; главный вызов — технологии, а не арсеналы; и потому решающее значение имеет готовность медицины и обучение людей.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Источники: официальные сайты ОЗХО и ООН, тексты конвенций, материалы CDC. Все цифры в презентации — из этих источников, спорные оценки жертв (Гута, Халабджа) даны диапазонами, как их и публикуют международные организации.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AEC0D6"/>
                </a:solidFill>
                <a:latin typeface="Calibri"/>
              </a:rPr>
              <a:t>ОРУЖИЕ МАССОВОГО ПОРАЖЕНИЯ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D7E1EE"/>
                </a:solidFill>
                <a:latin typeface="Calibri"/>
              </a:rPr>
              <a:t>История, классификация, средства защиты,
международно-правовой режим (данные на 2026 год)</a:t>
            </a:r>
          </a:p>
        </p:txBody>
      </p:sp>
      <p:pic>
        <p:nvPicPr>
          <p:cNvPr id="7" name="Picture 6" descr="ypres19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123" y="3291840"/>
            <a:ext cx="3588151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3749039"/>
            <a:ext cx="5852160" cy="1737360"/>
          </a:xfrm>
          <a:prstGeom prst="roundRect">
            <a:avLst>
              <a:gd name="adj" fmla="val 4000"/>
            </a:avLst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931920"/>
            <a:ext cx="5303520" cy="1371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План доклада: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D7E1EE"/>
                </a:solidFill>
                <a:latin typeface="Calibri"/>
              </a:rPr>
              <a:t>1. Что такое ОМП и место ХО и БО в этой системе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D7E1EE"/>
                </a:solidFill>
                <a:latin typeface="Calibri"/>
              </a:rPr>
              <a:t>2. Химическое оружие: история, классификация, защита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D7E1EE"/>
                </a:solidFill>
                <a:latin typeface="Calibri"/>
              </a:rPr>
              <a:t>3. Биологическое оружие: история, агенты, защита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D7E1EE"/>
                </a:solidFill>
                <a:latin typeface="Calibri"/>
              </a:rPr>
              <a:t>4. Сравнение ХО и БО. Выводы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8AA0BC"/>
                </a:solidFill>
                <a:latin typeface="Calibri"/>
              </a:rPr>
              <a:t>Материалы подготовлены по открытым источникам: ОЗХО (OPCW), ООН, CDC, МККК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Оружие массового поражения: три вида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Определения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3872484"/>
                <a:gridCol w="3134868"/>
                <a:gridCol w="2212848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Вид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Поражающий фактор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Источник энергии / агента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Ключевой документ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Ядерное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Ударная волна, световое излучение, проникающая радиация, радиоактивное заражение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Ядерные реакции (деление / синтез)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ДНЯО, 1968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Химическое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Токсическое действие на организм человека и животных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Синтезированные токсичные химикаты (ОВ)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КЗХО, 1993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Биологическое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Заболевания людей, животных, растений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Живые микроорганизмы, вирусы, токсины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КБТО, 1972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977639"/>
            <a:ext cx="11064240" cy="16002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ОМП — оружие, способное одним применением вызвать массовые потери людей, животных и растений, разрушения экономики и экосистем на больших площадях.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ХО и БО объединяет общая черта: поражается прежде всего человек (и биосфера), материальные объекты остаются целыми — этим они выгодны террористу и «невыгодны» в классической войне.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КЗХО — Конвенция о запрещении химического оружия; КБТО — Конвенция о запрещении биологического и токсинного оружия; ДНЯО — Договор о нераспространении ядерного оружия.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Химическое оружие: что это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Определение и свойства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23774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Определение (по КЗХО)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50" b="0">
                <a:solidFill>
                  <a:srgbClr val="222222"/>
                </a:solidFill>
                <a:latin typeface="Calibri"/>
              </a:rPr>
              <a:t>Токсичные химикаты и их прекурсоры, боеприпасы и устройства, специально предназначенные для смертельного поражения или причинения иного вреда через токсические свойства, а также любое оборудование, специально предназначенное для использования боеприпасов.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486400" cy="219456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029200" cy="1920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Отличительные черты: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действует через органы дыхания, кожу, ЖКТ, раны;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масштаб потерь зависит от плотности заражения и времени воздействия;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сохраняет инфраструктуру и материальные ценности;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сильный психологический эффект (паника);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применение зависит от метеоусловий (ветер, инверсия, осадки).</a:t>
            </a:r>
          </a:p>
        </p:txBody>
      </p:sp>
      <p:pic>
        <p:nvPicPr>
          <p:cNvPr id="10" name="Picture 9" descr="iran_ira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668" y="1234440"/>
            <a:ext cx="4414344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66344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Ирано-иракская война, 1980–1988: массовое применение ОВ впервые после Первой мировой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166360"/>
            <a:ext cx="5212080" cy="731520"/>
          </a:xfrm>
          <a:prstGeom prst="roundRect">
            <a:avLst>
              <a:gd name="adj" fmla="val 4000"/>
            </a:avLst>
          </a:prstGeom>
          <a:solidFill>
            <a:srgbClr val="FDF0EE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530352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C0392B"/>
                </a:solidFill>
                <a:latin typeface="Calibri"/>
              </a:rPr>
              <a:t>Итог Первой мировой: ~1,3 млн поражённых ОВ, около 90 тыс. погибших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История: 1915 — Ипр, рождение химической войны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Хронология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676655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60"/>
                <a:gridCol w="1288868"/>
                <a:gridCol w="4349931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Дата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Место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Событие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22.04.1915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Ипр (Бельгия)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Германия впервые массированно применила хлор (~168 т) — облако газа пошло на французские позиции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1915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Россия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Н.Д. Зелинский создаёт угольный противогаз — первая массовая защита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12.07.1917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Ипр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Первое применение иприта (кожно-нарывное ОВ): поражения даже через одежду и обувь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1915–1918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Все фронты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Применялись хлор, фосген, дифосген, иприт; до 30 % артснарядов — химические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as_mask_19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850" y="1143000"/>
            <a:ext cx="2127900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4069080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Противогаз Зелинского — Кумманта, 1915</a:t>
            </a:r>
          </a:p>
        </p:txBody>
      </p:sp>
      <p:pic>
        <p:nvPicPr>
          <p:cNvPr id="10" name="Picture 9" descr="ypres19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392" y="1143000"/>
            <a:ext cx="1967696" cy="1554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0" y="2788920"/>
            <a:ext cx="20116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Газовая атака под Ипром: аэрофотосъёмка облака хлора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663440"/>
            <a:ext cx="4480560" cy="82296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800600"/>
            <a:ext cx="41148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Итог: за 1915–1918 гг. отравляющими веществами поражено около 1,3 млн человек, погибли десятки тысяч; появилась целая отрасль — противохимическая защита.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Первая мировая война стала единственным периодом действительно массового боевого применения ОВ (порядка 125 тыс. т) — все последующие эпизоды на порядок меньше.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1925–1970-е: запрет, который не остановил применение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Хронология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7315200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Событие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Годы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Суть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Женевский протокол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1925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Запрет применения на войне удушающих, ядовитых и других газов и бактериологических средств. НО: запрещал применение, а не разработку, производство и накопление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Италия в Эфиопии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1935–1936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Массированное применение иприта с авиации против войск и населения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«Циклон-Б»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1941–1945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Инсектицид на основе синильной кислоты применён нацистами в лагерях смерти — крупнейшее химическое убийство в истории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«Эйджент Оранж»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1961–1971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США во Вьетнаме: дефолианты (диоксин) против растительности; долгосрочные экологические и медицинские последствия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Ирано-иракская война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1980–1988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Ирак применил иприт и табун/зарин против Ирана и мирного населения; Халабджа — самая известная атака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FDF0EE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Вывод: правовой запрет без механизмов контроля не работает — арсеналы создавались и применялись вплоть до принятия КЗХО (1993) и КБТО (1972).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1988 и 1995: две поворотные точки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Хронология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233172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labj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325880"/>
            <a:ext cx="2331720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1371600"/>
            <a:ext cx="2651760" cy="20116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Халабджа, 16–17 марта 1988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Ирак нанёс удар по курдскому городу: иприт, зарин, табун.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Погибли, по разным оценкам, от 3,2 до 5 тыс. человек, пострадали более 10 тыс.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Крупнейшая химическая атака против собственного гражданского населения.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303520" cy="233172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oky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31595"/>
            <a:ext cx="2286000" cy="1543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69680" y="13716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Токио, 20 марта 1995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Секта «Аум Синрикё» распылила зарин в метро — 5 скоординированных атак в час пик.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13–14 погибших, более 6 тыс. обратившихся за помощью, паника в мегаполисе.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Первая крупная химическая атака негосударственного актора.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11064240" cy="1463040"/>
          </a:xfrm>
          <a:prstGeom prst="roundRect">
            <a:avLst>
              <a:gd name="adj" fmla="val 4000"/>
            </a:avLst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Смена парадигмы угрозы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D7E1EE"/>
                </a:solidFill>
                <a:latin typeface="Calibri"/>
              </a:rPr>
              <a:t>До 1990-х химическое оружие — прерогатива государств и армий. Халабджа показала уязвимость мирного населения, Токио — что ОВ может применить группа энтузиастов с лабораторией, деньгами и доступом к прекурсорам. Так химическая угроза стала «террористической».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«Аум Синрикё» (запрещена в РФ) также безуспешно пыталась распылять сибирскую язву и ботулотоксин — то есть искала и биологическое оружие.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XXI век: химическое оружие никуда не ушло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Современность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64239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19"/>
                <a:gridCol w="8046720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Эпизод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Что установлено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Гута (Сирия), 21.08.2013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Зарин по пригородам Дамаска. Оценки жертв — от 281 до 1 700+ человек; самая крупная химическая атака XXI века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Хан-Шейхун, 04.04.2017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Зарин; свыше 80 погибших. Механизм ОЗХО-ООН (JIM) установил ответственность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Солсбери, 04.03.2018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«Новичок» (A-234) против С. Скрипаля: первое боевое применение вещества семейства «Новичок» с подтверждением ОЗХО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Навальный, 20.08.2020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Отравление «Новичком»; ОЗХО подтвердила наличие ингибитора холинэстеразы семейства «Новичок» в биопробах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Украина, 2024–2025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Три отчёта ОЗХО подтвердили применение веществ для борьбы с беспорядками (CS) в боеприпасах и пробах грунта на линии соприкосновения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Сирия, 2025–2026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После смены власти (декабрь 2024 г.) ОЗХО продолжает работу: десятки незадекларированных боеприпасов и объектов выявлены в ходе миссий 2025–2026 гг.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salisbu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672137"/>
            <a:ext cx="1371600" cy="771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589788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Солсбери, март 2018: специалисты в средствах защиты работают на месте отравления «Новичком». Источники — ОЗХО и ООН по данным на 2026 год.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Классификация отравляющих веществ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Классификация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43000"/>
          <a:ext cx="1133855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645"/>
                <a:gridCol w="2609668"/>
                <a:gridCol w="3509554"/>
                <a:gridCol w="2429691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Группа (физиологическое действие)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Типичные вещества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Признаки поражения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Специфическая помощь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Нервно-паралитические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Зарин, зоман, VX, «Новичок»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Судороги, слюнотечение, сужение зрачков (миоз), удушье, паралич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Атропин, пралидоксим, диазепам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Кожно-нарывные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Иприт, люизит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Покраснение → пузыри, язвы на коже, поражение глаз и лёгких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Дегазация, повязки; антидот люизита — унитиол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Общеядовитые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Синильная кислота, хлорциан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Головокружение, судороги, остановка дыхания — ткани не усваивают кислород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Антицианы (амилнитрит, тиосульфат натрия)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Удушающие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Хлор, фосген, дифосген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Отёк лёгких, удушье, кашель, синюшность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Кислород, покой, препараты против отёка лёгких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Психохимические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BZ (хинуклидил-бензилат), ЛСД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Галлюцинации, дезориентация, временная потеря боеспособности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Симптоматическая помощь, изоляция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Раздражающие (РВБ)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CS, CN, CR, хлорпикрин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Жжение глаз и дыхательных путей, слезотечение — обычно обратимо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Свежий воздух, промывание глаз и кожи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035040"/>
            <a:ext cx="1133856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Практическая классификация — по физиологическому действию: врач и командир первым делом смотрят на симптомы. По стойкости ОВ делят на стойкие (иприт, VX — часы и сутки) и нестойкие (хлор, зарин — минуты/часы).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Как доставляют ОВ и как распознать применение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Поражение и разведка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СРЕДСТВА ДОСТАВКИ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486400" cy="23774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артиллерийские снаряды, мины и РСЗО;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авиационные бомбы и выливные приборы;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ракеты (кассетные боеголовки);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генераторы аэрозолей и распылители с БПЛА;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диверсионные и террористические устройства (вентиляция метро, посылки, ёмкости).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Calibri"/>
              </a:rPr>
              <a:t>ПРИЗНАКИ ПРИМЕНЕНИЯ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89120"/>
            <a:ext cx="5486400" cy="1920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необычный запах, туман, дым, масляные пятна и капли на местности;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массовые однотипные поражения (миоз, судороги, удушье, ожоги кожи);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гибель насекомых, птиц, увядание растительности;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показания приборов химической разведки (ВПХР, газоанализаторы).</a:t>
            </a:r>
          </a:p>
        </p:txBody>
      </p:sp>
      <p:pic>
        <p:nvPicPr>
          <p:cNvPr id="11" name="Picture 10" descr="rkhb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403" y="1143000"/>
            <a:ext cx="4851433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43434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Подразделения РХБЗ: химическая разведка и специальная обработка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754880"/>
            <a:ext cx="5303520" cy="1325880"/>
          </a:xfrm>
          <a:prstGeom prst="roundRect">
            <a:avLst>
              <a:gd name="adj" fmla="val 4000"/>
            </a:avLst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892040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Главное при обнаружении: надеть противогаз, выйти перпендикулярно ветру на незаражённый участок, обозначить границы, провести частичную санитарную обработку и дегазацию.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Защита от химического оружия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Средства и порядок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Направление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Что применяется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Средства индивидуальной защиты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Противогаз (фильтрующий/изолирующий) — защита органов дыхания, глаз, лица; средства защиты кожи (ОЗК, костюм химзащиты, перчатки, сапоги)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Коллективная защита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Герметизированные объекты, фильтровентиляционные установки, убежища с режимом изоляции, герметичная техника (БТР, танки с ФВУ)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Медицинская защита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Антидоты: атропин + реактиваторы холинэстеразы (ФОВ), амилнитрит/тиосульфат (цианиды); противосудорожные; ИВЛ; санитарная обработка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Специальная обработка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Дегазация техники и местности (растворы, поливомоечные машины), частичная и полная санитарная обработка личного состава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Организационные меры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Химическая разведка, оповещение, режимы защиты, эвакуация населения, зоны заражения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protect_gp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715000"/>
            <a:ext cx="685800" cy="685800"/>
          </a:xfrm>
          <a:prstGeom prst="rect">
            <a:avLst/>
          </a:prstGeom>
        </p:spPr>
      </p:pic>
      <p:pic>
        <p:nvPicPr>
          <p:cNvPr id="9" name="Picture 8" descr="rkhbz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722620"/>
            <a:ext cx="1005839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4600" y="594360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Противогаз ГП-7 (слева) и общевойсковой защитный комплект (ОЗК) — базовая индивидуальная защита; подразделения РХБЗ проводят дегазацию и специальную обработку.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Международно-правовой режим: КЗХО и ОЗХО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Актуально на 2026 год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2606040" cy="109728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1993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подписание КЗХО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88720"/>
            <a:ext cx="2606040" cy="109728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258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1997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вступление в силу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2606040" cy="109728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258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193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государства-участника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188720"/>
            <a:ext cx="2606040" cy="109728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3258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1F4E79"/>
                </a:solidFill>
                <a:latin typeface="Calibri"/>
              </a:rPr>
              <a:t>72 304 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82880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уничтожено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514600"/>
            <a:ext cx="6583680" cy="3017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Что запрещает КЗХО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разработку, производство, накопление, передачу и применение химического оружия;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любую помощь другому государству в приобретении ХО;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применение веществ для борьбы с беспорядками (CS, CN) как средства ведения войны (ст. I.5).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Орган — Организация по запрещению химического оружия (ОЗХО, Гаага), Нобелевская премия мира 2013 г.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Инспекции: объявленные объекты проверяются по плану, подозреваемые — по запросу государства-участника.</a:t>
            </a:r>
          </a:p>
        </p:txBody>
      </p:sp>
      <p:pic>
        <p:nvPicPr>
          <p:cNvPr id="20" name="Picture 19" descr="opcw_h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540" y="2514600"/>
            <a:ext cx="3429000" cy="228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484632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Штаб-квартира ОЗХО, Гаага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FDF0EE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4243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Главное достижение: 7 июля 2023 г. уничтожена последняя объявленная единица химического оружия (США, объект Blue Grass). Проблемы остаются: не все страны — участники (Египет, КНДР, Южный Судан; Израиль подписал, но не ратифицировал) и незадекларированные запасы в Сирии.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Уничтожение химического оружия: как это выглядит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КЗХО на практике</a:t>
            </a:r>
          </a:p>
        </p:txBody>
      </p:sp>
      <p:pic>
        <p:nvPicPr>
          <p:cNvPr id="7" name="Picture 6" descr="blue_gr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903" y="1188720"/>
            <a:ext cx="4109313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023360"/>
            <a:ext cx="557784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Объект Blue Grass (штат Кентукки, США): уничтожение последних объявленных боеприпасов завершено в июле 2023 г.</a:t>
            </a:r>
          </a:p>
        </p:txBody>
      </p:sp>
      <p:pic>
        <p:nvPicPr>
          <p:cNvPr id="9" name="Picture 8" descr="cape_r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381" y="1188720"/>
            <a:ext cx="4118918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023360"/>
            <a:ext cx="521208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Вывоз и уничтожение сирийского химического оружия (2013–2014): нейтрализация проводилась на судне M/V Cape Ray в международных водах.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51560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Россия завершила уничтожение своих запасов 27 сентября 2017 г. (около 40 тыс. т). Всего с 1997 г. под контролем ОЗХО уничтожено 72 304,34 т отравляющих веществ — это первая в истории полностью ликвидированная категория оружия массового поражения.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Биологическое оружие: что это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Определение и особенности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577840" cy="2286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Определение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БО — это боеприпасы и приборы, снаряжённые биологическими средствами: микроорганизмами (бактерии, вирусы, риккетсии, грибки) или их токсинами, предназначенными для массового поражения людей, животных, растений.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20440"/>
            <a:ext cx="5577840" cy="25146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5120640" cy="2286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Чем принципиально отличается от химического: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1. Инкубационный период — поражает не сразу, а через часы и сутки;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2. Способность к самораспространению — контагиозные агенты передаются от человека к человеку;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3. Живой агент размножается, эпидемия не подчиняется воле применившего;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4. Площадь поражения сравнима с ядерным оружием при ничтожной стоимости;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5. Скрытность: «взрыв» не виден, факт применения доказывается неделями.</a:t>
            </a:r>
          </a:p>
        </p:txBody>
      </p:sp>
      <p:pic>
        <p:nvPicPr>
          <p:cNvPr id="10" name="Picture 9" descr="anthrax_spo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487" y="1188720"/>
            <a:ext cx="3630705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3749039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Споры Bacillus anthracis (возбудитель сибирской язвы), СЭМ. Споры сохраняются в почве десятилетиями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97680"/>
            <a:ext cx="5212080" cy="1600200"/>
          </a:xfrm>
          <a:prstGeom prst="roundRect">
            <a:avLst>
              <a:gd name="adj" fmla="val 4000"/>
            </a:avLst>
          </a:prstGeom>
          <a:solidFill>
            <a:srgbClr val="1C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434840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D7E1EE"/>
                </a:solidFill>
                <a:latin typeface="Calibri"/>
              </a:rPr>
              <a:t>Биологическое оружие запрещено КБТО 1972 г. — первой конвенцией, запретившей целый класс ОМП. Она запрещает разработку, производство, накопление и приобретение биологических агентов «не для профилактических, защитных или иных мирных целей».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История биологического оружия: от катапульт до почты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Хронология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43000"/>
          <a:ext cx="1133856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2960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Эпизод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Суть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Каффа, 1346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Осаждённая генуэзская крепость в Крыму: осаждавшие забрасывали через стены трупы умерших от чумы — один из первых задокументированных случаев «биологической осады»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Форт-Питт, 1763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Британские офицеры передали индейцам одеяла из оспенного госпиталя — вспышка оспы среди племён Огайо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Первая и Вторая мировые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Программы исследования сибирской язвы, чумы, бруцеллёза; Япония — отряд 731 в Маньчжурии (зараженные «бомбы», опыты на людях, тысячи погибших)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Свердловск, 02.04.1979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Аварийный выброс спор сибирской язвы из военной лаборатории Свердловск-19: не менее 64–66 погибших; крупнейшая известная авария БО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«Аум Синрикё», 1990–1995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Неудачные попытки распылить сибирскую язву и ботулотоксин в Токио — технология оказалась сложнее, чем с зарином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Письма с сибирской язвой, 2001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США: 22 случая заражения (11 лёгочных), 5 погибших. Один террорист с порошком в конвертах парализовал почту и работу Сената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unit7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817870"/>
            <a:ext cx="1371600" cy="754380"/>
          </a:xfrm>
          <a:prstGeom prst="rect">
            <a:avLst/>
          </a:prstGeom>
        </p:spPr>
      </p:pic>
      <p:pic>
        <p:nvPicPr>
          <p:cNvPr id="9" name="Picture 8" descr="anthrax_let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318" y="5806440"/>
            <a:ext cx="1380883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6035040"/>
            <a:ext cx="813816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Слева: мемориальный комплекс отряда 731 (Харбин). Справа: письмо с сибирской язвой, отправленное в офис сенатора США, 2001 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Биологические агенты: классификация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Классификация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43000"/>
          <a:ext cx="113385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5120639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Группа агентов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Примеры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Характеристика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Бактерии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Сибирская язва, чума, туляремия, бруцеллёз, сап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Лечатся антибиотиками; споры сибирской язвы живут в почве десятилетиями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Вирусы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Натуральная оспа, Эбола, Марбург, жёлтая лихорадка, лихорадка Ласса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Антибиотики не действуют; оспа высококонтагиозна и для неё есть вакцина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Риккетсии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Сыпной тиф, Ку-лихорадка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Внутриклеточные паразиты; чувствительны к тетрациклинам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Токсины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Ботулинический токсин, стафилококковый энтеротоксин B, рицин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Не живые организмы — яды; не заразны, но крайне токсичны (бототоксин — сильнейший из известных)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11480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1F4E79"/>
                </a:solidFill>
                <a:latin typeface="Calibri"/>
              </a:rPr>
              <a:t>Категории приоритетности (CDC, США) — по совокупности угрозы: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4480560"/>
          <a:ext cx="1133856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50976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 A</a:t>
                      </a:r>
                    </a:p>
                  </a:txBody>
                  <a:tcPr marL="73152" marR="73152" marT="27432" marB="27432" anchor="ctr">
                    <a:solidFill>
                      <a:srgbClr val="7F2A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Наивысший приоритет: легко передаются, высокая смертность, требуют особой готовности — сибирская язва, оспа, чума, туляремия, ботулизм, вирусные геморрагические лихорадки</a:t>
                      </a:r>
                    </a:p>
                  </a:txBody>
                  <a:tcPr marL="73152" marR="73152" marT="27432" marB="27432" anchor="ctr">
                    <a:solidFill>
                      <a:srgbClr val="7F2A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Категория 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Умеренная угроза: распространяются труднее, смертность ниже — бруцеллёз, сап, Q-лихорадка, рицин, стафилококковый энтеротоксин 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Категория C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«Новые» угрозы: могут быть созданы или модифицированы в будущем — Нипах, хантавирусы, устойчивые к лекарствам штаммы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Защита от биологического оружия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Средства и меры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6423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79"/>
                <a:gridCol w="7680959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Направление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Содержание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Специфическая профилактика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Вакцины (сибирская язва, оспа, чума, туляремия), иммуноглобулины и сыворотки, антибиотикопрофилактика по показаниям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Общая профилактика и гигиена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Мытьё рук, обеззараживание воды и пищи, защита от насекомых и грызунов (переносчиков), респираторы и СИЗ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Режимно-ограничительные меры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Карантин (полная изоляция очага с вооружённой охраной), обсервация (медицинское наблюдение и обследования), изоляция больных, удаление подозрительных лиц на обсервацию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Обеззараживание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Дезинфекция (хлорсодержащие, перекись, формальдегид), дезинсекция и дератизация, обработка транспорта и помещений; ликвидация биологических отходов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Медицинская и лабораторная готовность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Эпидемиологический надзор, лаборатории BSL-3/BSL-4 с защитными скафандрами, запасы антибиотиков и вакцин, обучение медперсонала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bsl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769292"/>
            <a:ext cx="1188720" cy="6686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20240" y="5989320"/>
            <a:ext cx="950976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Лаборатория BSL-4: работа с особо опасными патогенами в скафандре с избыточным давлением (NIAID, США)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Современные угрозы и КБТО 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Актуально на 2026 год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493776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КБТО: сильная конвенция без инспекций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открыта 10.04.1972, вступила в силу 26.03.1975; 189 государств-участников;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запрещает разработку, производство и накопление биоагентов «не в мирных целях»;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но нет механизма проверки — протокол о verification так и не принят (переговоры сорваны в 2001 г.);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с 2023 г. работает Рабочая группа по усилению КБТО, дополнительная сессия прошла в феврале 2026 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DF0EE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25880"/>
            <a:ext cx="493776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50" b="1">
                <a:solidFill>
                  <a:srgbClr val="C0392B"/>
                </a:solidFill>
                <a:latin typeface="Calibri"/>
              </a:rPr>
              <a:t>Угрозы XXI века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биотерроризм: доступность технологий и прекурсоров;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двойные технологии: легальные лаборатории и фармпроизводства могут быть перепрофилированы;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синтетическая биология и ИИ: удешевление синтеза геномов, подбор штаммов и иммунных «обходных путей»;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климат и миграция: расширение ареалов переносчиков (лихорадки, малярия).</a:t>
            </a:r>
          </a:p>
        </p:txBody>
      </p:sp>
      <p:pic>
        <p:nvPicPr>
          <p:cNvPr id="11" name="Picture 10" descr="ebo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357" y="3246120"/>
            <a:ext cx="2334646" cy="2377440"/>
          </a:xfrm>
          <a:prstGeom prst="rect">
            <a:avLst/>
          </a:prstGeom>
        </p:spPr>
      </p:pic>
      <p:pic>
        <p:nvPicPr>
          <p:cNvPr id="12" name="Picture 11" descr="variol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383" y="3246120"/>
            <a:ext cx="1899314" cy="2377440"/>
          </a:xfrm>
          <a:prstGeom prst="rect">
            <a:avLst/>
          </a:prstGeom>
        </p:spPr>
      </p:pic>
      <p:pic>
        <p:nvPicPr>
          <p:cNvPr id="13" name="Picture 12" descr="rkhbz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880" y="3246120"/>
            <a:ext cx="3709919" cy="2377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571500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Вирус Эбола (СЭМ)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7150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Вирус натуральной оспы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71500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Учения подразделений РХБЗ — отработка действий в зоне заражения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Сравнение: химическое и биологическое оружие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Итоговая таблица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97280"/>
          <a:ext cx="1133855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7475"/>
                <a:gridCol w="4340542"/>
                <a:gridCol w="434054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Параметр сравнения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Химическое оружие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Биологическое оружие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Поражающий агент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Токсичные химикаты (ОВ) и их прекурсоры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Живые микроорганизмы, вирусы, их токсины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Природа агента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Неживая материя, не размножается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Живой агент (или продукт его жизнедеятельности) — размножается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Скорость действия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От секунд (ФОВ, цианиды) до часов (иприт)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Инкубационный период: обычно от нескольких часов до 2–3 недель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Заразность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Нет: не передаётся от человека к человеку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Возможна: контагиозные агенты дают вторичные случаи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Управляемость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Относительно контролируемо: зона, время, стойкость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Слабо контролируемо: эпидемия живёт своей жизнью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Площадь поражения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Локальная — район применения, снос ветром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Потенциально огромная — до континента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Стойкость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От минут (хлор) до суток и недель (VX, иприт)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Споры сибирской язвы — десятилетия в почве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Обнаружение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Быстро: приборы химразведки, запах, симптомы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Трудно: факт применения устанавливается днями и неделями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Средства защиты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Противогаз, СЗК, дегазация, антидоты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Вакцины, антибиотики, карантин/обсервация, дезинфекция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Специфическая помощь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Антидоты (атропин, реактиваторы, антицианы) — эффект в минуты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Вакцины до контакта, антибиотики/сыворотки после; вещества-антидотов мало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Какие объекты страдают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Люди, животные, отчасти растительность и вода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Люди, животные и растения; возможен удар по продовольствию и экономике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Правовой режим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КЗХО, 1993: 193 государства, инспекции ОЗХО, запасы уничтожены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КБТО, 1972: 189 государств, механизма проверки нет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Ключевой риск сегодня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Терроризм, «Новичок», незадекларированные запасы, РВБ как средство войны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Биотерроризм, синтетическая биология и ИИ, отсутствие контроля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C0392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26464"/>
            <a:ext cx="987552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E4ECF6"/>
                </a:solidFill>
                <a:latin typeface="Calibri"/>
              </a:rPr>
              <a:t>Химическое оружие — единственная категория ОМП, ликвидированная полностью: 72 304 т уничтожено под контролем ОЗХО к июлю 2023 г. Но угроза сохраняется: новые агенты («Новичок»), неучастники КЗХО и незадекларированные запасы.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C0392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32304"/>
            <a:ext cx="987552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E4ECF6"/>
                </a:solidFill>
                <a:latin typeface="Calibri"/>
              </a:rPr>
              <a:t>Биологическое оружие запрещено КБТО, но конвенция не имеет механизма проверки — это слабое место всей системы контроля над ОМП.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C0392B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438144"/>
            <a:ext cx="987552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E4ECF6"/>
                </a:solidFill>
                <a:latin typeface="Calibri"/>
              </a:rPr>
              <a:t>Защита от ХО строится на противогазе, средствах защиты кожи, антидотах и дегазации; защита от БО — на вакцинах, эпиднадзоре, карантине и обеззараживании.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C0392B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443984"/>
            <a:ext cx="987552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E4ECF6"/>
                </a:solidFill>
                <a:latin typeface="Calibri"/>
              </a:rPr>
              <a:t>Главный вызов десятилетия — не арсеналы государств, а технологии: синтетическая биология, ИИ-ассистированное проектирование агентов и доступность «двойных» лабораторий.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C0392B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449824"/>
            <a:ext cx="987552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>
                <a:solidFill>
                  <a:srgbClr val="E4ECF6"/>
                </a:solidFill>
                <a:latin typeface="Calibri"/>
              </a:rPr>
              <a:t>Практический смысл: готовность системы здравоохранения и обучение населения действиям в очаге поражения значат больше, чем любые запасы антидотов.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8AA0BC"/>
                </a:solidFill>
                <a:latin typeface="Calibri"/>
              </a:rPr>
              <a:t>Доклад подготовлен по открытым материалам ОЗХО, ООН, CDC и профильных исследований (2026 г.)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9184"/>
            <a:ext cx="9144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Источники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9855" y="2743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AEC0D6"/>
                </a:solidFill>
                <a:latin typeface="Calibri"/>
              </a:rPr>
              <a:t>Проверено в 2026 году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64238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79"/>
                <a:gridCol w="8138159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Источник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Что взято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ОЗХО (OPCW)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opcw.org — уничтожение химического оружия (72 304,34 т; завершение 07.07.2023); доклады Технического секретариата по Сирии (2025–2026); отчёты о технической помощи Украине (2024–2025)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ООН / Совет Безопасности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Документы S/2026/… по химическому досье Сирии; материалы по КБТО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КЗХО и КБТО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Тексты конвенций: Конвенция о запрещении химического оружия (1993); Конвенция о запрещении биологического и токсинного оружия (1972)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CDC (США)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Категории биологических агентов A/B/C; материалы по сибирской язве и оспе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МККК и открытые справочники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Данные о потерях в Первой мировой войне, Халабдже, Токио-1995, Гуте-2013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Фотографии: архивы времён Первой мировой войны и ирано-иракской войны, материалы пресс-служб и фотоагентств, снимки CDC и NIH (общественное достояние), материалы войск РХБЗ. Изображения используются в учебных целях.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Химическое и биологическое оружие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