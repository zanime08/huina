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Доклад на 12–15 минут. Говорим простым языком: что это за оружие, какие бывают его виды, чем оно опасно, как защититься и что говорит закон. В конце — сравнение двух видов.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Всего три вида ОМП: ядерное, химическое и биологическое. Ядерное упоминаем только для общей картины, дальше говорим о химическом и биологическом. Общее у них одно: страдают люди, а материальные ценности остаются невредимыми — этим они и привлекательны для террористов.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Химическое оружие — это яды и то, чем их распыляют. Главный признак: поражаются люди, а технику и здания оно не разрушает. Масштаб в истории огромен — 1,3 миллиона поражённых только за Первую мировую.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пути. Самый быстрый — через дыхание. Но есть вещества, которые действуют через кожу, поэтому одного противогаза мало — нужен защитный костюм.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Факты для оживления доклада. Зарин — по фамилиям химиков, иприт — по городу Ипр, VX — из мирной химии, «Эйджент Оранж» — просто по цвету бочек. И главный факт: последствия химической войны не исчезли до сих пор.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Дата, с которой всё началось: 22 апреля 1915 года, Ипр, 168 тонн хлора. Эффект был ужасающим, потому что защиты не было вообще. Ответом стали противогазы.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1917 году появляется иприт — яд, действующий через кожу. Противогаза становится мало, нужна защита кожи. Ответ России 1915 года — противогаз Зелинского с активированным углём.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Женевский протокол 1925 года запрещал применение, но не производство и хранение, и не имел проверок. Все последующие эпизоды — Эфиопия, лагеря смерти, Вьетнам, Иран и Ирак — случились уже после него. Отсюда мораль: запрет должен быть проверяемым.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Халабджа — крупнейшая химическая атака против собственного населения. Тысячи погибших, десятки тысяч пострадавших. Вывод: страдают мирные люди.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Токио-1995 — переломный момент: химическое оружие впервые применили террористы, и в метро, в час пик. Порог входа оказался ниже, чем думали.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Актуальная часть. Сирия-2013, Солсбери-2018 и Навальный-2020 — «Новичок»; Украина 2024–2025 — подтверждённый ОЗХО газ CS; Сирия 2025–2026 — инспекторы находят незадекларированные боеприпасы.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групп, и название каждой говорит само за себя: по чему бьёт. Дальше разберём самые опасные группы подробнее.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Самая опасная группа. Зарин, VX, «Новичок». Симптомы: узкие зрачки, слюни, удушье, судороги. Помощь — немедленно атропин и врач. В противогазе и костюме такие яды не страшны, если не коснуться капель.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Иприт — яд замедленного действия по коже и лёгким; хлор и фосген — удушающие. Важный факт: у почти любого боевого яда есть мирное применение, поэтому запрещать приходится не вещества, а оружие на их основе.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остальные группы: общеядовитые (синильная кислота, угарный газ), раздражающие (CS — газ для разгона демонстраций, применять его на войне запрещено), психохимические (BZ). Плюс общая первая помощь.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Практическая памятка для БЖ: признаки применения и порядок действий. Ключевое — противогаз, выход поперёк ветра, укрытие, вызов спасателей.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уровня защиты: индивидуальная (противогаз + костюм), коллективная (убежища с фильтрами), и обеззараживание — дегазация техники и местности.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помощь по шагам. Главное правило — сначала защитись сам, иначе пострадавших станет двое. И скорость: первые минуты решают.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КЗХО 1993 года — самая жёсткая из конвенций: запрещено производство, хранение и применение, есть инспекции ОЗХО. 193 государства, уничтожено 72 304 тонны. Нобелевская премия мира 2013.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Практика уничтожения: США закончили в 2023 году, Россия — в 2017-м (40 тыс. т), сирийское оружие вывозили и нейтрализовали на судне. Итог — 72 304 тонны.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Биологическое оружие — микробы и их яды. Доставка — распыление, вода и еда, насекомые, письма. Оно дёшево и потому опасно.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отличий, и все они — в пользу того, что биологическое оружие опаснее и коварнее: оно не сразу видно, заразно и само распространяется.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биологического оружия древнее химического: трупы через стены Каффы в 1346 году, одеяла из оспенного госпиталя в 1763-м. И факт про оспу — её победили, но вирус остался в двух лабораториях.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примера XX века: японский отряд 731 с опытами на людях и авария в Свердловске в 1979 году. Плюс факт про стойкость спор: остров Грюнард закрывали почти 50 лет.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Современность: Аум Синрикё пыталась, но не смогла; письма 2001 года в США показали, что конверта достаточно; рицин — яд из касторовых бобов. Главная тревога сегодня — доступность технологий.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группы: бактерии (лечатся антибиотиками), вирусы (антибиотики не работают), риккетсии (переносчики — вши, блохи, клещи) и токсины — яды, не заразные, но очень сильные. И красивый факт про ботулотоксин и ботокс.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Категории CDC: А — самое страшное и заразное, B — среднее, C — то, что может появиться в будущем. По ним планируют запасы вакцин и лекарств.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Защита от БО — это эпидемиология, а не противогазы: вакцины, гигиена, маски, дезинфекция, карантин и обсервация. Объясняю разницу карантина и обсервации — её часто спрашивают.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Факты о БО: стойкость спор, рицин из касторовых бобов, насекомые-переносчики и сохранённый вирус оспы.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КБТО запрещает всё, но проверять некому — это слабое место всей системы. Добавьте к этому синтетическую биологию и ИИ, и станет понятно, почему специалисты говорят о готовности медицины.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Главная таблица доклада. По ней удобно отвечать на вопросы: химическое — сразу, локально, незаразно, есть противоядия и инспекции; биологическое — не сразу, заразно, неуправляемо, лечится в основном прививками, а контроля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Памятка для БЖ: что делать при химической и биологической угрозе и чего делать нельзя. Это самая практическая часть доклада.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выводов. Коротко: химию удалось ликвидировать, биологию — нет; у биологического оружия нет контроля; защита от обоих видов есть и работает; главный риск — технологии; личная безопасность — это простые действия, которым можно научиться.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Источники: ОЗХО, ООН, тексты конвенций, CDC и исторические материалы. Спорные оценки жертв даны диапазонами — так их публикуют международные организации.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74519"/>
            <a:ext cx="12191695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515600" cy="4572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0" i="0">
                <a:solidFill>
                  <a:srgbClr val="A9BED6"/>
                </a:solidFill>
                <a:latin typeface="Calibri"/>
              </a:rPr>
              <a:t>ОРУЖИЕ МАССОВОГО ПОРАЖЕНИЯ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10515600" cy="5029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9144000" cy="4572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D7E1EE"/>
                </a:solidFill>
                <a:latin typeface="Calibri"/>
              </a:rPr>
              <a:t>Что это, чем опасно, как защититься и что запрещено законом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71800"/>
            <a:ext cx="5669280" cy="102558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В докладе: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7E1EE"/>
                </a:solidFill>
                <a:latin typeface="Calibri"/>
              </a:rPr>
              <a:t>— что такое химическое оружие и какие оно бывает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7E1EE"/>
                </a:solidFill>
                <a:latin typeface="Calibri"/>
              </a:rPr>
              <a:t>— что такое биологическое оружие и чем оно страшнее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D7E1EE"/>
                </a:solidFill>
                <a:latin typeface="Calibri"/>
              </a:rPr>
              <a:t>— чем отличаются и как от них защищаются</a:t>
            </a:r>
          </a:p>
        </p:txBody>
      </p:sp>
      <p:pic>
        <p:nvPicPr>
          <p:cNvPr id="8" name="Picture 7" descr="ypres19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9924" y="2834640"/>
            <a:ext cx="3588151" cy="2834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0" y="5715000"/>
            <a:ext cx="4389120" cy="19024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Первая газовая атака, Ипр, 1915 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126480"/>
            <a:ext cx="1051560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69CB8"/>
                </a:solidFill>
                <a:latin typeface="Calibri"/>
              </a:rPr>
              <a:t>Материалы: ОЗХО, ООН, CDC, открытые источники. Данные на 2026 год.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Оружие массового поражения: три вида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Что это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25880"/>
            <a:ext cx="3611880" cy="54864"/>
          </a:xfrm>
          <a:prstGeom prst="roundRect">
            <a:avLst>
              <a:gd name="adj" fmla="val 5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435607"/>
            <a:ext cx="3611880" cy="990219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1600200"/>
            <a:ext cx="3300984" cy="9902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8E44AD"/>
                </a:solidFill>
                <a:latin typeface="Calibri"/>
              </a:rPr>
              <a:t>Ядерное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50" b="0" i="0">
                <a:solidFill>
                  <a:srgbClr val="3A424C"/>
                </a:solidFill>
                <a:latin typeface="Calibri"/>
              </a:rPr>
              <a:t>Взрыв, ударная волна,
радиация. Разрушает всё сразу.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1325880"/>
            <a:ext cx="3611880" cy="54864"/>
          </a:xfrm>
          <a:prstGeom prst="roundRect">
            <a:avLst>
              <a:gd name="adj" fmla="val 5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97679" y="1435607"/>
            <a:ext cx="3611880" cy="990219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5695" y="1600200"/>
            <a:ext cx="3300984" cy="9902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Химическое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50" b="0" i="0">
                <a:solidFill>
                  <a:srgbClr val="3A424C"/>
                </a:solidFill>
                <a:latin typeface="Calibri"/>
              </a:rPr>
              <a:t>Ядовитые вещества.
Бьют по людям, технику не трогают.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325880"/>
            <a:ext cx="3611880" cy="54864"/>
          </a:xfrm>
          <a:prstGeom prst="roundRect">
            <a:avLst>
              <a:gd name="adj" fmla="val 5000"/>
            </a:avLst>
          </a:prstGeom>
          <a:solidFill>
            <a:srgbClr val="1E8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46719" y="1435607"/>
            <a:ext cx="3611880" cy="990219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1600200"/>
            <a:ext cx="3300984" cy="9902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1E8B4E"/>
                </a:solidFill>
                <a:latin typeface="Calibri"/>
              </a:rPr>
              <a:t>Биологическое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50" b="0" i="0">
                <a:solidFill>
                  <a:srgbClr val="3A424C"/>
                </a:solidFill>
                <a:latin typeface="Calibri"/>
              </a:rPr>
              <a:t>Болезнетворные микробы
и их яды. Вызывают болезни.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246120"/>
            <a:ext cx="11064240" cy="101447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 i="0">
                <a:solidFill>
                  <a:srgbClr val="252B33"/>
                </a:solidFill>
                <a:latin typeface="Calibri"/>
              </a:rPr>
              <a:t>Оружие массового поражения (ОМП) — это оружие, которое одним применением убивает или выводит из строя очень много людей на большой площади.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F4E79"/>
                </a:solidFill>
                <a:latin typeface="Calibri"/>
              </a:rPr>
              <a:t>В этом докладе — про химическое и биологическое оружие. Их объединяет главное: они бьют по людям, а здания, техника и дороги остаются целыми.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62348"/>
            <a:ext cx="11064240" cy="514095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8368" y="4726940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" y="4708652"/>
            <a:ext cx="10405872" cy="5140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ОМП ещё называют «оружием слабых»: сделать его проще и дешевле, чем современную армию с танками и самолётами.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Химическое оружие: что это простыми словами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Химическое оружие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78992"/>
            <a:ext cx="5943600" cy="20654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50" b="0" i="0">
                <a:solidFill>
                  <a:srgbClr val="252B33"/>
                </a:solidFill>
                <a:latin typeface="Calibri"/>
              </a:rPr>
              <a:t>Это ядовитые химические вещества и боеприпасы, которые их распыляют: снаряды, бомбы, ракеты, баллоны, распылители.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Calibri"/>
              </a:rPr>
              <a:t>Как выглядит применение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52B33"/>
                </a:solidFill>
                <a:latin typeface="Calibri"/>
              </a:rPr>
              <a:t>— туман, дым или газ в воздухе;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52B33"/>
                </a:solidFill>
                <a:latin typeface="Calibri"/>
              </a:rPr>
              <a:t>— капли и масляные пятна на земле и технике;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52B33"/>
                </a:solidFill>
                <a:latin typeface="Calibri"/>
              </a:rPr>
              <a:t>— люди массово падают, задыхаются, теряют зрение;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252B33"/>
                </a:solidFill>
                <a:latin typeface="Calibri"/>
              </a:rPr>
              <a:t>— техника при этом остаётся целой.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18713"/>
            <a:ext cx="5943600" cy="88392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583305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3565017"/>
            <a:ext cx="5285232" cy="88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За Первую мировую войну отравляющими веществами были поражены около 1,3 миллиона человек. С тех пор запретить их пытаются уже больше 100 лет.</a:t>
            </a:r>
          </a:p>
        </p:txBody>
      </p:sp>
      <p:pic>
        <p:nvPicPr>
          <p:cNvPr id="13" name="Picture 12" descr="iran_ira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234440"/>
            <a:ext cx="4892040" cy="3648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20840" y="4937368"/>
            <a:ext cx="4892040" cy="19024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Ирано-иракская война, 1980–1988: солдат в противогазе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Как яд попадает в человека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Химическое оружие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078992"/>
            <a:ext cx="5394960" cy="1005268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1353311"/>
            <a:ext cx="5047488" cy="1005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1F4E79"/>
                </a:solidFill>
                <a:latin typeface="Calibri"/>
              </a:rPr>
              <a:t>Через дыхание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Вдохнул воздух с газом или аэрозолем — самый быстрый и опасный путь.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078992"/>
            <a:ext cx="5394960" cy="1005268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353311"/>
            <a:ext cx="5047488" cy="1005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1F4E79"/>
                </a:solidFill>
                <a:latin typeface="Calibri"/>
              </a:rPr>
              <a:t>Через кожу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Капля на руке или одежде. Так действует иприт и VX: противогаз один не спасает.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10711"/>
            <a:ext cx="5394960" cy="1005268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3685031"/>
            <a:ext cx="5047488" cy="1005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1F4E79"/>
                </a:solidFill>
                <a:latin typeface="Calibri"/>
              </a:rPr>
              <a:t>С водой и едой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Отравленная вода или продукты. Опасно на захваченной территории.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410711"/>
            <a:ext cx="5394960" cy="820356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47104" y="3685032"/>
            <a:ext cx="5047488" cy="8203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1F4E79"/>
                </a:solidFill>
                <a:latin typeface="Calibri"/>
              </a:rPr>
              <a:t>Через раны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Попадание в открытую рану — яд идёт прямо в кровь.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52160"/>
            <a:ext cx="11064240" cy="24834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>
                <a:solidFill>
                  <a:srgbClr val="1F4E79"/>
                </a:solidFill>
                <a:latin typeface="Calibri"/>
              </a:rPr>
              <a:t>Именно поэтому защита нужна не одна: противогаз закрывает дыхание, а защитный костюм — кожу.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Химическое оружие: удивительные факты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Факты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078992"/>
            <a:ext cx="5486400" cy="1068832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243584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1225295"/>
            <a:ext cx="4828032" cy="1068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Зарин назван по именам учёных: его открыли в Германии в 1938 году, и в название вошли первые буквы фамилий четырёх химиков (Schrader, Ambros, Rüdiger, van der Linde).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440432"/>
            <a:ext cx="5486400" cy="699008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2605024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" y="2586736"/>
            <a:ext cx="4828032" cy="699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Иприт назван по месту первого применения — бельгийский город Ипр (1917 год).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432048"/>
            <a:ext cx="5486400" cy="88392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3596640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3578352"/>
            <a:ext cx="4828032" cy="88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VX — это яд, от которого хватает нескольких капель на коже. Изначально его исследовали как средство от насекомых.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08576"/>
            <a:ext cx="5486400" cy="699008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368" y="4773168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4754880"/>
            <a:ext cx="4828032" cy="699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«Эйджент Оранж» («оранжевый агент») получил имя по цвету полосы на бочках, в которых его возили во Вьетнам.</a:t>
            </a:r>
          </a:p>
        </p:txBody>
      </p:sp>
      <p:pic>
        <p:nvPicPr>
          <p:cNvPr id="21" name="Picture 20" descr="gas_mask_19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5914" y="1078992"/>
            <a:ext cx="1784690" cy="23774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63640" y="3511296"/>
            <a:ext cx="5349240" cy="19024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Противогаз Зелинского — Кумманта, 1915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930142"/>
            <a:ext cx="5349240" cy="88392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73368" y="4094734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7144" y="4076446"/>
            <a:ext cx="4690872" cy="88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Французские крестьяне до сих пор находят на полях Первой мировой неразорвавшиеся химические снаряды — их выкапывают и обезвреживают уже больше 100 лет.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22 апреля 1915 года: первая газовая атака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История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78992"/>
            <a:ext cx="6035040" cy="200729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 b="0" i="0">
                <a:solidFill>
                  <a:srgbClr val="252B33"/>
                </a:solidFill>
                <a:latin typeface="Calibri"/>
              </a:rPr>
              <a:t>Бельгия, город Ипр. Немецкие войска выпустили хлор из 5 730 баллонов — около 168 тонн газа.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Calibri"/>
              </a:rPr>
              <a:t>Что было дальше: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52B33"/>
                </a:solidFill>
                <a:latin typeface="Calibri"/>
              </a:rPr>
              <a:t>— жёлто-зелёное облако высотой до 12 метров пошло на окопы;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52B33"/>
                </a:solidFill>
                <a:latin typeface="Calibri"/>
              </a:rPr>
              <a:t>— люди задыхались, у многих не было никакой защиты;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52B33"/>
                </a:solidFill>
                <a:latin typeface="Calibri"/>
              </a:rPr>
              <a:t>— в обороне образовалась брешь в несколько километров;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252B33"/>
                </a:solidFill>
                <a:latin typeface="Calibri"/>
              </a:rPr>
              <a:t>— всего за войну от газов пострадали около 1,3 млн человек.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42322"/>
            <a:ext cx="6035040" cy="88392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506914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3488626"/>
            <a:ext cx="5376672" cy="88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На фронтах Первой мировой противогазы выдавали не только людям, но и лошадям, а также служебным собакам и почтовым голубям.</a:t>
            </a:r>
          </a:p>
        </p:txBody>
      </p:sp>
      <p:pic>
        <p:nvPicPr>
          <p:cNvPr id="13" name="Picture 12" descr="ypres19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078992"/>
            <a:ext cx="4800600" cy="37924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12280" y="4926329"/>
            <a:ext cx="4800600" cy="19024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Аэрофотосъёмка газового облака под Ипром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1917: иприт и первая массовая защита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История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078992"/>
            <a:ext cx="5852160" cy="119018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1188720"/>
            <a:ext cx="5504688" cy="1190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Calibri"/>
              </a:rPr>
              <a:t>Иприт (1917)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Яд, который действует через кожу: вызывает ожоги и пузыри даже под одеждой. Противогаз от него спасает только дыхание, но не кожу.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61780"/>
            <a:ext cx="5852160" cy="119018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671508"/>
            <a:ext cx="5504688" cy="1190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1F4E79"/>
                </a:solidFill>
                <a:latin typeface="Calibri"/>
              </a:rPr>
              <a:t>Ответ России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В 1915 году химик Николай Зелинский создал угольный противогаз. Он задерживал ядовитые газы и спас сотни тысяч жизней.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44569"/>
            <a:ext cx="5852160" cy="671893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>
                <a:solidFill>
                  <a:srgbClr val="1F4E79"/>
                </a:solidFill>
                <a:latin typeface="Calibri"/>
              </a:rPr>
              <a:t>С этого момента защита стала двойной: закрыть дыхание и закрыть кожу. Так появились войска химической защиты (сейчас — войска РХБЗ).</a:t>
            </a:r>
          </a:p>
        </p:txBody>
      </p:sp>
      <p:pic>
        <p:nvPicPr>
          <p:cNvPr id="14" name="Picture 13" descr="gas_mask_19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5831" y="1078992"/>
            <a:ext cx="1990616" cy="2651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29400" y="3785615"/>
            <a:ext cx="4983480" cy="19024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Противогаз Зелинского — Кумманта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29400" y="4250182"/>
            <a:ext cx="4983480" cy="699008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39128" y="4414773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4396485"/>
            <a:ext cx="4325112" cy="699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Уголь противогаза работает как губка: он впитывает ядовитые вещества в себя.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1925–1980-е: запрет, который не работал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История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078992"/>
          <a:ext cx="11155679" cy="25245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3956"/>
                <a:gridCol w="1335539"/>
                <a:gridCol w="7306184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Событие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Годы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Что произошло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</a:tr>
              <a:tr h="469646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Женевский протокол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1925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Запретили применять газы на войне. Но не запретили их делать и хранить — и никто не проверял исполнение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Италия в Эфиопии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1935–1936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Италия распыляла иприт с самолётов — запрет не остановил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</a:tr>
              <a:tr h="469646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«Циклон-Б»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1941–1945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Яд от насекомых на основе синильной кислоты, которым нацисты убивали людей в лагерях смерти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69646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«Эйджент Оранж»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1961–1971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США во Вьетнаме уничтожали леса, лишая противника укрытия; яд до сих пор накапливается в почве и людях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Иран против Ирака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1980–1988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Ирак применил иприт и нервно-паралитические газы против войск и мирных жителей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768090"/>
            <a:ext cx="11155680" cy="4601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 i="0">
                <a:solidFill>
                  <a:srgbClr val="C0392B"/>
                </a:solidFill>
                <a:latin typeface="Calibri"/>
              </a:rPr>
              <a:t>Вывод: бумажный запрет без проверки не работает. Поэтому позже появились отдельные конвенции — КБТО (1972) и КЗХО (1993).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Халабджа, 1988: удар по мирному городу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История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78992"/>
            <a:ext cx="5669280" cy="2175573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 b="0" i="0">
                <a:solidFill>
                  <a:srgbClr val="252B33"/>
                </a:solidFill>
                <a:latin typeface="Calibri"/>
              </a:rPr>
              <a:t>16–17 марта 1988 года иракская авиация нанесла химический удар по курдскому городу Халабджа: иприт, зарин и другие газы.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1" i="0">
                <a:solidFill>
                  <a:srgbClr val="C0392B"/>
                </a:solidFill>
                <a:latin typeface="Calibri"/>
              </a:rPr>
              <a:t>Итог: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52B33"/>
                </a:solidFill>
                <a:latin typeface="Calibri"/>
              </a:rPr>
              <a:t>— погибли от 3 до 5 тысяч человек, большинство — мирные жители;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52B33"/>
                </a:solidFill>
                <a:latin typeface="Calibri"/>
              </a:rPr>
              <a:t>— пострадали более 10 тысяч человек;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252B33"/>
                </a:solidFill>
                <a:latin typeface="Calibri"/>
              </a:rPr>
              <a:t>— последствия — болезни и рождение детей с пороками — остались на десятилетия.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28885"/>
            <a:ext cx="5669280" cy="88392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693477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3675189"/>
            <a:ext cx="5010912" cy="88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Халабджа стала напоминанием: химическое оружие почти всегда бьёт по тем, кто не может защититься, — по мирному населению.</a:t>
            </a:r>
          </a:p>
        </p:txBody>
      </p:sp>
      <p:pic>
        <p:nvPicPr>
          <p:cNvPr id="13" name="Picture 12" descr="halabj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078992"/>
            <a:ext cx="5166360" cy="3444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46520" y="4578096"/>
            <a:ext cx="5166360" cy="19024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Мемориал жертвам химической атаки в Халабдже</a:t>
            </a:r>
          </a:p>
        </p:txBody>
      </p:sp>
      <p:pic>
        <p:nvPicPr>
          <p:cNvPr id="15" name="Picture 14" descr="iran_victi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4969510"/>
            <a:ext cx="2362200" cy="1417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46520" y="6441694"/>
            <a:ext cx="5166360" cy="19024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Пострадавший от химической атаки, Иран, 1980-е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1995: зарин в токийском метро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История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78992"/>
            <a:ext cx="5760720" cy="195649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 b="0" i="0">
                <a:solidFill>
                  <a:srgbClr val="252B33"/>
                </a:solidFill>
                <a:latin typeface="Calibri"/>
              </a:rPr>
              <a:t>20 марта 1995 года секта «Аум Синрикё» (запрещена в РФ) пустила зарин в вагоны метро в час пик.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Calibri"/>
              </a:rPr>
              <a:t>Как это было: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52B33"/>
                </a:solidFill>
                <a:latin typeface="Calibri"/>
              </a:rPr>
              <a:t>— пакеты с жидким зарином проткнули зонтиками прямо в вагонах;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52B33"/>
                </a:solidFill>
                <a:latin typeface="Calibri"/>
              </a:rPr>
              <a:t>— 13–14 человек погибли, более 6 тысяч обратились за помощью;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252B33"/>
                </a:solidFill>
                <a:latin typeface="Calibri"/>
              </a:rPr>
              <a:t>— станции закрыли, город охватила паника.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91522"/>
            <a:ext cx="5760720" cy="88392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456114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3437826"/>
            <a:ext cx="5102352" cy="88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Это был первый случай, когда химическое оружие применила не армия, а группа фанатиков с лабораторией. С тех пор химическая угроза считается террористической.</a:t>
            </a:r>
          </a:p>
        </p:txBody>
      </p:sp>
      <p:pic>
        <p:nvPicPr>
          <p:cNvPr id="13" name="Picture 12" descr="toky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078992"/>
            <a:ext cx="5074920" cy="34255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60" y="4559427"/>
            <a:ext cx="5074920" cy="19024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Пострадавшие у станции метро в Токио, 20 марта 1995 года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XXI век: химическое оружие всё ещё применяют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Современность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078992"/>
          <a:ext cx="11155680" cy="2648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86384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Когда и где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Что случилось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Гута, Сирия, 2013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Зарин по пригородам Дамаска в ходе гражданской войны. Оценки жертв — от нескольких сотен до более чем тысячи человек. Самая крупная химическая атака XXI века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Солсбери, Великобритания, 2018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Отравление веществом семейства «Новичок» — ядом, созданным ещё в СССР. ОЗХО подтвердила тип вещества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Навальный, Россия, 2020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Отравление «Новичком»; лаборатории ОЗХО подтвердили наличие этого вещества в анализах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Украина, 2024–2025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Эксперты ОЗХО подтвердили применение газа для разгона демонстраций (CS) в боеприпасах и в пробах земли на линии фронта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</a:tr>
              <a:tr h="45415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Сирия, 2025–2026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После смены власти в стране инспекторы ОЗХО продолжают находить незадекларированные боеприпасы и химикаты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855720"/>
            <a:ext cx="11155680" cy="43484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Главный вывод: конвенция работает, но полностью проблема не решена — оружие применяют, а новые яды изобретают.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Шесть видов отравляющих веществ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Разбор: химическое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78992"/>
          <a:ext cx="11292838" cy="2642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7829"/>
                <a:gridCol w="3620004"/>
                <a:gridCol w="4525005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Вид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Примеры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На что действует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Нервно-паралитические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зарин, зоман, VX, «Новичок»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нервная система, дыхание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Кожно-нарывные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иприт, люизит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кожа, глаза, лёгкие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Удушающие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хлор, фосген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лёгкие, дыхание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Общеядовитые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синильная кислота, угарный газ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кровь и ткани — они перестают получать кислород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Раздражающие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CS, CN (газ для разгона демонстраций)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глаза, нос, горло — обычно не смертельно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Психохимические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BZ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сознание: галлюцинации, потеря ориентации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867912"/>
            <a:ext cx="11292840" cy="4206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Название каждой группы подсказывает, чего ждать: нервно-паралитические бьют по нервам, удушающие — по лёгким, кожно-нарывные — по коже.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Разбор: нервно-паралитические вещества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Разбор: химическое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78992"/>
            <a:ext cx="5943600" cy="119018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207008"/>
            <a:ext cx="5596128" cy="1190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Calibri"/>
              </a:rPr>
              <a:t>Что это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Самые опасные яды: зарин, зоман, VX и «Новичок». Они ломают передачу сигналов в нервной системе — человек теряет управление телом и дыханием.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43492"/>
            <a:ext cx="5943600" cy="991933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1" i="0">
                <a:solidFill>
                  <a:srgbClr val="C0392B"/>
                </a:solidFill>
                <a:latin typeface="Calibri"/>
              </a:rPr>
              <a:t>Признаки: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52B33"/>
                </a:solidFill>
                <a:latin typeface="Calibri"/>
              </a:rPr>
              <a:t>— зрачки сужаются, зрения будто не хватает;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52B33"/>
                </a:solidFill>
                <a:latin typeface="Calibri"/>
              </a:rPr>
              <a:t>— слюни и слёзы, тяжело дышать;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252B33"/>
                </a:solidFill>
                <a:latin typeface="Calibri"/>
              </a:rPr>
              <a:t>— судороги, человек теряет сознание.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73170"/>
            <a:ext cx="5943600" cy="43484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 i="0">
                <a:solidFill>
                  <a:srgbClr val="1F4E79"/>
                </a:solidFill>
                <a:latin typeface="Calibri"/>
              </a:rPr>
              <a:t>Помощь: противогаз, немедленно ввести противоядие (атропин) и срочно к врачу.</a:t>
            </a:r>
          </a:p>
        </p:txBody>
      </p:sp>
      <p:pic>
        <p:nvPicPr>
          <p:cNvPr id="13" name="Picture 12" descr="salisbu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78992"/>
            <a:ext cx="4983480" cy="280320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75120" y="3937063"/>
            <a:ext cx="4983480" cy="34391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Солсбери, 2018: специалисты работают на месте отравления «Новичком»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4555299"/>
            <a:ext cx="4983480" cy="88392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84848" y="4719891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78624" y="4701603"/>
            <a:ext cx="4325112" cy="88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«Новичок» — семейство ядов, разработанных в СССР. Они сильнее зарина, и противоядие нужно вводить очень быстро.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Разбор: кожно-нарывные и удушающие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Разбор: химическое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78992"/>
            <a:ext cx="5577840" cy="119018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225296"/>
            <a:ext cx="5230368" cy="1190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Calibri"/>
              </a:rPr>
              <a:t>Кожно-нарывные: иприт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Поражает кожу, глаза и лёгкие. Действует не сразу: сначала ничего не чувствуется, через несколько часов — покраснение, зуд, пузыри и язвы.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25204"/>
            <a:ext cx="5577840" cy="4206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>
                <a:solidFill>
                  <a:srgbClr val="C0392B"/>
                </a:solidFill>
                <a:latin typeface="Calibri"/>
              </a:rPr>
              <a:t>Главная опасность — человек может не заметить попадания капли и не обработать кожу.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078992"/>
            <a:ext cx="5303520" cy="137509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1225295"/>
            <a:ext cx="4956048" cy="1375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1F4E79"/>
                </a:solidFill>
                <a:latin typeface="Calibri"/>
              </a:rPr>
              <a:t>Удушающие: хлор, фосген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Разъедают дыхательные пути и вызывают отёк лёгких — человек задыхается. Хлор — тот самый газ с резким запахом, который в малых дозах используют для обеззараживания воды.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710116"/>
            <a:ext cx="5303520" cy="4206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>
                <a:solidFill>
                  <a:srgbClr val="1F4E79"/>
                </a:solidFill>
                <a:latin typeface="Calibri"/>
              </a:rPr>
              <a:t>Защита: противогаз, быстрый выход из облака газа на свежий воздух, покой.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368484"/>
            <a:ext cx="5303520" cy="1068832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64808" y="3533076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8584" y="3514788"/>
            <a:ext cx="4645152" cy="1068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Хлор используют на каждой водопроводной станции — миллионы тонн в год. Поэтому химическое оружие трудно запретить: почти у каждого яда есть мирное применение.</a:t>
            </a:r>
          </a:p>
        </p:txBody>
      </p:sp>
      <p:pic>
        <p:nvPicPr>
          <p:cNvPr id="18" name="Picture 17" descr="ypres19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9468" y="5212080"/>
            <a:ext cx="1562582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Разбор: общеядовитые, раздражающие, психохимические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Разбор: химическое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78992"/>
            <a:ext cx="3657600" cy="1321054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44167"/>
            <a:ext cx="3328416" cy="132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Общеядовитые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3A424C"/>
                </a:solidFill>
                <a:latin typeface="Calibri"/>
              </a:rPr>
              <a:t>Синильная кислота, угарный газ. Кровь перестаёт переносить кислород, и человек задыхается изнутри. Смерть может наступить за минуты.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1104" y="1078992"/>
            <a:ext cx="3657600" cy="1498854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8264" y="1344167"/>
            <a:ext cx="3328416" cy="14988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F4E79"/>
                </a:solidFill>
                <a:latin typeface="Calibri"/>
              </a:rPr>
              <a:t>Раздражающие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3A424C"/>
                </a:solidFill>
                <a:latin typeface="Calibri"/>
              </a:rPr>
              <a:t>CS, CN — «газ для разгона демонстраций». Жжение в глазах и горле, слёзы. Обычно не убивает, но КЗХО запрещает использовать его как оружие войны.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8" y="1078992"/>
            <a:ext cx="3657600" cy="1321054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1344167"/>
            <a:ext cx="3328416" cy="132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8E44AD"/>
                </a:solidFill>
                <a:latin typeface="Calibri"/>
              </a:rPr>
              <a:t>Психохимические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3A424C"/>
                </a:solidFill>
                <a:latin typeface="Calibri"/>
              </a:rPr>
              <a:t>BZ и подобные: вызывают галлюцинации, спутанность сознания, человек временно небоеспособен. Обычно не смертельно.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749039"/>
            <a:ext cx="11155680" cy="445515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F4E79"/>
                </a:solidFill>
                <a:latin typeface="Calibri"/>
              </a:rPr>
              <a:t>Первая помощь при любом отравлении: надеть противогаз (или ватно-марлевую повязку), вывести пострадавшего на чистый воздух, снять заражённую одежду, промыть глаза и кожу водой с мылом и ждать врачей.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450588"/>
            <a:ext cx="11155680" cy="699008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2648" y="4615179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" y="4596892"/>
            <a:ext cx="10497311" cy="699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Запах синильной кислоты напоминает горький миндаль. Но учтите: около трети людей этот запах не чувствуют вовсе — ориентироваться на него нельзя.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Как понять, что применили химическое оружие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Что делать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78992"/>
            <a:ext cx="5486400" cy="33724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50" b="1" i="0">
                <a:solidFill>
                  <a:srgbClr val="C0392B"/>
                </a:solidFill>
                <a:latin typeface="Calibri"/>
              </a:rPr>
              <a:t>Признаки применения: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89392"/>
            <a:ext cx="5486400" cy="18252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350" b="1" i="0">
                <a:solidFill>
                  <a:srgbClr val="252B33"/>
                </a:solidFill>
                <a:latin typeface="Calibri"/>
              </a:rPr>
              <a:t>• необычный запах, туман или дым без видимой причины;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350" b="1" i="0">
                <a:solidFill>
                  <a:srgbClr val="252B33"/>
                </a:solidFill>
                <a:latin typeface="Calibri"/>
              </a:rPr>
              <a:t>• масляные пятна и капли на земле и технике;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350" b="1" i="0">
                <a:solidFill>
                  <a:srgbClr val="252B33"/>
                </a:solidFill>
                <a:latin typeface="Calibri"/>
              </a:rPr>
              <a:t>• много людей с одинаковыми симптомами: задыхаются, кашляют, трут глаза;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350" b="1" i="0">
                <a:solidFill>
                  <a:srgbClr val="252B33"/>
                </a:solidFill>
                <a:latin typeface="Calibri"/>
              </a:rPr>
              <a:t>• погибшие насекомые, птицы, поникшая трава;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350" b="1" i="0">
                <a:solidFill>
                  <a:srgbClr val="252B33"/>
                </a:solidFill>
                <a:latin typeface="Calibri"/>
              </a:rPr>
              <a:t>• показания приборов химической разведки.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078992"/>
            <a:ext cx="5394960" cy="33724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50" b="1" i="0">
                <a:solidFill>
                  <a:srgbClr val="1F4E79"/>
                </a:solidFill>
                <a:latin typeface="Calibri"/>
              </a:rPr>
              <a:t>Что делать: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89392"/>
            <a:ext cx="5394960" cy="18252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350" b="1" i="0">
                <a:solidFill>
                  <a:srgbClr val="252B33"/>
                </a:solidFill>
                <a:latin typeface="Calibri"/>
              </a:rPr>
              <a:t>• надеть противогаз или закрыть лицо влажной тканью;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350" b="1" i="0">
                <a:solidFill>
                  <a:srgbClr val="252B33"/>
                </a:solidFill>
                <a:latin typeface="Calibri"/>
              </a:rPr>
              <a:t>• выйти из зоны перпендикулярно ветру — поперёк, а не по ветру;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350" b="1" i="0">
                <a:solidFill>
                  <a:srgbClr val="252B33"/>
                </a:solidFill>
                <a:latin typeface="Calibri"/>
              </a:rPr>
              <a:t>• не садиться на землю и ничего не трогать руками;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350" b="1" i="0">
                <a:solidFill>
                  <a:srgbClr val="252B33"/>
                </a:solidFill>
                <a:latin typeface="Calibri"/>
              </a:rPr>
              <a:t>• укрыться в помещении, закрыть окна и двери;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350" b="1" i="0">
                <a:solidFill>
                  <a:srgbClr val="252B33"/>
                </a:solidFill>
                <a:latin typeface="Calibri"/>
              </a:rPr>
              <a:t>• вызвать службу спасения и ждать указаний.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497516"/>
            <a:ext cx="5394960" cy="88392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3368" y="3662108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7144" y="3643820"/>
            <a:ext cx="4736592" cy="88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Простое правило: яд тяжелее воздуха стекает вниз — в подвалы, траншеи, низины. Поэтому укрываться лучше выше.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Защита от химического оружия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Разбор: химическое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78992"/>
            <a:ext cx="5669280" cy="119018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225296"/>
            <a:ext cx="5321808" cy="1190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1F4E79"/>
                </a:solidFill>
                <a:latin typeface="Calibri"/>
              </a:rPr>
              <a:t>Индивидуальная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Противогаз — защищает глаза и дыхание. Защитный костюм (ОЗК), перчатки и сапоги — защищают кожу. Вместе они дают полную защиту.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525204"/>
            <a:ext cx="5669280" cy="1005268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671508"/>
            <a:ext cx="5321808" cy="1005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1F4E79"/>
                </a:solidFill>
                <a:latin typeface="Calibri"/>
              </a:rPr>
              <a:t>Коллективная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Герметичные убежища и техника с фильтрацией воздуха: воздух проходит через фильтры, и внутри можно дышать.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86504"/>
            <a:ext cx="5669280" cy="1005268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3932808"/>
            <a:ext cx="5321808" cy="1005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1F4E79"/>
                </a:solidFill>
                <a:latin typeface="Calibri"/>
              </a:rPr>
              <a:t>Обеззараживание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Специальные растворы смывают и обезвреживают яд с техники, одежды и земли. Людям делают санитарную обработку.</a:t>
            </a:r>
          </a:p>
        </p:txBody>
      </p:sp>
      <p:pic>
        <p:nvPicPr>
          <p:cNvPr id="15" name="Picture 14" descr="rkhb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078992"/>
            <a:ext cx="5212080" cy="334007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46520" y="4473930"/>
            <a:ext cx="5212080" cy="34391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Подразделения РХБЗ проводят химическую разведку и обеззараживание</a:t>
            </a:r>
          </a:p>
        </p:txBody>
      </p:sp>
      <p:pic>
        <p:nvPicPr>
          <p:cNvPr id="17" name="Picture 16" descr="protect_gp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5046446"/>
            <a:ext cx="1463040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46520" y="6555206"/>
            <a:ext cx="5212080" cy="19024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Противогаз — основа индивидуальной защиты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Первая помощь при химическом поражении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Что делать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18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078992"/>
          <a:ext cx="11155679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8815"/>
                <a:gridCol w="8096864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Шаг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Что делать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1. Защитись сам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Надень противогаз или повязку — помогать можно только в защите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2. Выведи пострадавшего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На чистый воздух, перпендикулярно ветру, в сторону от облака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3. Обработай кожу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Сними заражённую одежду, промой кожу и глаза водой с мылом (если яд не иприт — при нём сначала промокнуть тампоном)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4. Введи противоядие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При нервно-паралитических газах — атропин из шприц-тюбика аптечки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5. Вызови помощь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52B33"/>
                          </a:solidFill>
                          <a:latin typeface="Calibri"/>
                        </a:rPr>
                        <a:t>Позвони в службу спасения, опиши симптомы и место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657600"/>
            <a:ext cx="11155680" cy="2428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1" i="0">
                <a:solidFill>
                  <a:srgbClr val="C0392B"/>
                </a:solidFill>
                <a:latin typeface="Calibri"/>
              </a:rPr>
              <a:t>Главное: счёт идёт на минуты. Быстрее всего помогает то, что сделано в первые 5–10 минут.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Кто и как запрещает химическое оружие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Международное право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78992"/>
            <a:ext cx="2788920" cy="10515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70432"/>
            <a:ext cx="2788920" cy="4114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F4E79"/>
                </a:solidFill>
                <a:latin typeface="Calibri"/>
              </a:rPr>
              <a:t>1993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45920"/>
            <a:ext cx="278892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6B7480"/>
                </a:solidFill>
                <a:latin typeface="Calibri"/>
              </a:rPr>
              <a:t>принята КЗХО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078992"/>
            <a:ext cx="2788920" cy="10515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170432"/>
            <a:ext cx="2788920" cy="4114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F4E79"/>
                </a:solidFill>
                <a:latin typeface="Calibri"/>
              </a:rPr>
              <a:t>193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1645920"/>
            <a:ext cx="278892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6B7480"/>
                </a:solidFill>
                <a:latin typeface="Calibri"/>
              </a:rPr>
              <a:t>государства-участника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078992"/>
            <a:ext cx="2788920" cy="10515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170432"/>
            <a:ext cx="2788920" cy="4114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F4E79"/>
                </a:solidFill>
                <a:latin typeface="Calibri"/>
              </a:rPr>
              <a:t>72 304 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1645920"/>
            <a:ext cx="278892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6B7480"/>
                </a:solidFill>
                <a:latin typeface="Calibri"/>
              </a:rPr>
              <a:t>уничтожено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1078992"/>
            <a:ext cx="2788920" cy="10515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170432"/>
            <a:ext cx="2788920" cy="4114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F4E79"/>
                </a:solidFill>
                <a:latin typeface="Calibri"/>
              </a:rPr>
              <a:t>2013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1645920"/>
            <a:ext cx="278892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6B7480"/>
                </a:solidFill>
                <a:latin typeface="Calibri"/>
              </a:rPr>
              <a:t>Нобелевская премия мира ОЗХО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423160"/>
            <a:ext cx="5486400" cy="33724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50" b="1" i="0">
                <a:solidFill>
                  <a:srgbClr val="1F4E79"/>
                </a:solidFill>
                <a:latin typeface="Calibri"/>
              </a:rPr>
              <a:t>Что запрещает КЗХО (1993):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833560"/>
            <a:ext cx="5486400" cy="13522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350" b="1" i="0">
                <a:solidFill>
                  <a:srgbClr val="252B33"/>
                </a:solidFill>
                <a:latin typeface="Calibri"/>
              </a:rPr>
              <a:t>• производить и хранить химическое оружие;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350" b="1" i="0">
                <a:solidFill>
                  <a:srgbClr val="252B33"/>
                </a:solidFill>
                <a:latin typeface="Calibri"/>
              </a:rPr>
              <a:t>• применять его;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350" b="1" i="0">
                <a:solidFill>
                  <a:srgbClr val="252B33"/>
                </a:solidFill>
                <a:latin typeface="Calibri"/>
              </a:rPr>
              <a:t>• продавать или передавать другим странам;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350" b="1" i="0">
                <a:solidFill>
                  <a:srgbClr val="252B33"/>
                </a:solidFill>
                <a:latin typeface="Calibri"/>
              </a:rPr>
              <a:t>• применять газ для разгона демонстраций как оружие войны.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295584"/>
            <a:ext cx="5486400" cy="4206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За соблюдением следит ОЗХО — организация в Гааге с правом инспекций.</a:t>
            </a:r>
          </a:p>
        </p:txBody>
      </p:sp>
      <p:pic>
        <p:nvPicPr>
          <p:cNvPr id="24" name="Picture 23" descr="opcw_h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423160"/>
            <a:ext cx="5394960" cy="35966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63640" y="6074664"/>
            <a:ext cx="5394960" cy="19024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Штаб-квартира ОЗХО, Гаага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6493510"/>
            <a:ext cx="5394960" cy="88392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373368" y="6658102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67144" y="6639814"/>
            <a:ext cx="4736592" cy="88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Химическое оружие — единственный вид ОМП, который человечество объявило уничтоженным полностью. Но это касается только официально заявленных запасов.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Как уничтожают химическое оружие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Международное право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20</a:t>
            </a:r>
          </a:p>
        </p:txBody>
      </p:sp>
      <p:pic>
        <p:nvPicPr>
          <p:cNvPr id="9" name="Picture 8" descr="blue_gra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906" y="1078992"/>
            <a:ext cx="3424428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3419856"/>
            <a:ext cx="5486400" cy="34391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Объект Blue Grass, США: последние боеприпасы уничтожены в июле 2023 года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992372"/>
            <a:ext cx="5486400" cy="43484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 i="0">
                <a:solidFill>
                  <a:srgbClr val="1F4E79"/>
                </a:solidFill>
                <a:latin typeface="Calibri"/>
              </a:rPr>
              <a:t>Россия уничтожила свои запасы ещё 27 сентября 2017 года — около 40 тысяч тонн.</a:t>
            </a:r>
          </a:p>
        </p:txBody>
      </p:sp>
      <p:pic>
        <p:nvPicPr>
          <p:cNvPr id="12" name="Picture 11" descr="cape_r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3709" y="1078992"/>
            <a:ext cx="3020540" cy="2011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3145536"/>
            <a:ext cx="5349240" cy="34391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Вывоз химического оружия из Сирии, нейтрализация на судне в море, 2013–2014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763772"/>
            <a:ext cx="5349240" cy="137509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5664" y="3910076"/>
            <a:ext cx="5001768" cy="1375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1F4E79"/>
                </a:solidFill>
                <a:latin typeface="Calibri"/>
              </a:rPr>
              <a:t>Как это делают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Боеприпасы разбирают в герметичных камерах, а яд обезвреживают химической реакцией или сжигают при очень высокой температуре. Всё идёт под камерами и контролем инспекторов.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40680"/>
            <a:ext cx="11155680" cy="44907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1" i="0">
                <a:solidFill>
                  <a:srgbClr val="C0392B"/>
                </a:solidFill>
                <a:latin typeface="Calibri"/>
              </a:rPr>
              <a:t>Итог: с 1997 года уничтожено 72 304 тонны отравляющих веществ — это первая категория оружия массового поражения, ликвидированная полностью.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Биологическое оружие: что это простыми словами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Биологическое оружие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78992"/>
            <a:ext cx="5669280" cy="2043493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 i="0">
                <a:solidFill>
                  <a:srgbClr val="252B33"/>
                </a:solidFill>
                <a:latin typeface="Calibri"/>
              </a:rPr>
              <a:t>Это болезнетворные микробы (бактерии, вирусы) или их яды, которые специально распространяют, чтобы вызвать болезнь и смерть людей, животных и растений.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Calibri"/>
              </a:rPr>
              <a:t>Чем распыляют: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52B33"/>
                </a:solidFill>
                <a:latin typeface="Calibri"/>
              </a:rPr>
              <a:t>— распылители с самолётов и дронов;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52B33"/>
                </a:solidFill>
                <a:latin typeface="Calibri"/>
              </a:rPr>
              <a:t>— заражённая вода и еда;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52B33"/>
                </a:solidFill>
                <a:latin typeface="Calibri"/>
              </a:rPr>
              <a:t>— заражённые насекомые (блохи, комары, клещи);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252B33"/>
                </a:solidFill>
                <a:latin typeface="Calibri"/>
              </a:rPr>
              <a:t>— письма и посылки с порошком.</a:t>
            </a:r>
          </a:p>
        </p:txBody>
      </p:sp>
      <p:pic>
        <p:nvPicPr>
          <p:cNvPr id="10" name="Picture 9" descr="anthrax_spor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78992"/>
            <a:ext cx="5257800" cy="35753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4709159"/>
            <a:ext cx="5257800" cy="19024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Споры сибирской язвы под микроскопом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5155437"/>
            <a:ext cx="5257800" cy="1068832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10528" y="5320030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4304" y="5301742"/>
            <a:ext cx="4599432" cy="1068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Биологическое оружие называют «атомной бомбой бедняка»: по расчётам экспертов, поразить квадратный километр территории микробами стоит в сотни раз дешевле, чем обычным или ядерным оружием.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Чем биологическое оружие отличается от химического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Биологическое оружие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78992"/>
            <a:ext cx="11155680" cy="94716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225295"/>
            <a:ext cx="10844784" cy="9471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E8B4E"/>
                </a:solidFill>
                <a:latin typeface="Calibri"/>
              </a:rPr>
              <a:t>1. Действует не сразу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3A424C"/>
                </a:solidFill>
                <a:latin typeface="Calibri"/>
              </a:rPr>
              <a:t>У химического — секунды и минуты. У биологического — инкубационный период: от нескольких часов до 2–3 недель, человек успевает уехать.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263902"/>
            <a:ext cx="11155680" cy="76936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2410206"/>
            <a:ext cx="10844784" cy="7693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E8B4E"/>
                </a:solidFill>
                <a:latin typeface="Calibri"/>
              </a:rPr>
              <a:t>2. Может передаваться дальше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3A424C"/>
                </a:solidFill>
                <a:latin typeface="Calibri"/>
              </a:rPr>
              <a:t>Микроб способен переходить от человека к человеку — болезнь распространяется сама.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71012"/>
            <a:ext cx="11155680" cy="76936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3417316"/>
            <a:ext cx="10844784" cy="7693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E8B4E"/>
                </a:solidFill>
                <a:latin typeface="Calibri"/>
              </a:rPr>
              <a:t>3. Живой агент размножается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3A424C"/>
                </a:solidFill>
                <a:latin typeface="Calibri"/>
              </a:rPr>
              <a:t>Химический яд конечен, а микроб размножается и может «уйти» в эпидемию.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278122"/>
            <a:ext cx="11155680" cy="76936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424426"/>
            <a:ext cx="10844784" cy="7693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E8B4E"/>
                </a:solidFill>
                <a:latin typeface="Calibri"/>
              </a:rPr>
              <a:t>4. Трудно заметить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3A424C"/>
                </a:solidFill>
                <a:latin typeface="Calibri"/>
              </a:rPr>
              <a:t>Ни взрыва, ни облака. Факт применения устанавливают по больным — днями и неделями.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285232"/>
            <a:ext cx="11155680" cy="76936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" y="5431536"/>
            <a:ext cx="10844784" cy="7693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E8B4E"/>
                </a:solidFill>
                <a:latin typeface="Calibri"/>
              </a:rPr>
              <a:t>5. Один удар — огромная площадь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3A424C"/>
                </a:solidFill>
                <a:latin typeface="Calibri"/>
              </a:rPr>
              <a:t>Эпидемия способна охватить город, страну и континент.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Биологическое оружие в древности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История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78992"/>
            <a:ext cx="5486400" cy="137509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207007"/>
            <a:ext cx="5138928" cy="1375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Calibri"/>
              </a:rPr>
              <a:t>Осада Каффы, 1346 год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Осаждавшие крепость в Крыму забрасывали через стены трупы людей, умерших от чумы. Вспышка началась внутри города — это один из первых в истории случаев биологической войны.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728404"/>
            <a:ext cx="5486400" cy="119018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856420"/>
            <a:ext cx="5138928" cy="1190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Calibri"/>
              </a:rPr>
              <a:t>Одеяла из госпиталя, 1763 год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В Северной Америке британские офицеры передали индейцам одеяла и платки из оспенного госпиталя. Среди племён началась эпидемия оспы.</a:t>
            </a:r>
          </a:p>
        </p:txBody>
      </p:sp>
      <p:pic>
        <p:nvPicPr>
          <p:cNvPr id="13" name="Picture 12" descr="vario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5361" y="1078992"/>
            <a:ext cx="2191516" cy="2743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63640" y="3877056"/>
            <a:ext cx="5394960" cy="19024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Вирус натуральной оспы под микроскопом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295902"/>
            <a:ext cx="5394960" cy="1068832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73368" y="4460494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7144" y="4442206"/>
            <a:ext cx="4736592" cy="1068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Оспа была единственной болезнью, которую человечество победило полностью: в 1980 году ВОЗ объявила о её ликвидации. Теперь вирус хранится только в двух лабораториях в мире.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XX век: секретные программы и аварии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История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78992"/>
            <a:ext cx="5577840" cy="119018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225296"/>
            <a:ext cx="5230368" cy="1190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Calibri"/>
              </a:rPr>
              <a:t>Отряд 731, Япония, 1936–1945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Секретное подразделение в Маньчжурии: заражали людей чумой, холерой и сибирской язвой, испытывали бомбы с блохами. Погибли десятки тысяч человек.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525204"/>
            <a:ext cx="5577840" cy="119018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671508"/>
            <a:ext cx="5230368" cy="1190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Calibri"/>
              </a:rPr>
              <a:t>Авария в Свердловске, 1979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Из военной лаборатории случайно выбросило облако спор сибирской язвы. Погибли не менее 64 человек. Власти объясняли вспышку «заражённым мясом» и скрывали правду.</a:t>
            </a:r>
          </a:p>
        </p:txBody>
      </p:sp>
      <p:pic>
        <p:nvPicPr>
          <p:cNvPr id="13" name="Picture 12" descr="unit7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078992"/>
            <a:ext cx="5303520" cy="29169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55080" y="4050791"/>
            <a:ext cx="5303520" cy="19024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Мемориальный комплекс на месте базы отряда 731, Харбин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4469638"/>
            <a:ext cx="5303520" cy="1068832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64808" y="4634230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8584" y="4615942"/>
            <a:ext cx="4645152" cy="1068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Споры сибирской язвы сохраняются в почве десятилетиями. Шотландский остров Грюнард, где в 1942 году испытывали бомбу с сибирской язвой, был закрыт почти 50 лет.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Биологическое оружие сегодня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Современность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25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078992"/>
          <a:ext cx="11155680" cy="216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31520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Событие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Что произошло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«Аум Синрикё», 1990–1995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Секта пыталась распылить сибирскую язву и ботулотоксин в Токио, но не справилась с технологией — поэтому и выбрала зарин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Письма с сибирской язвой, США, 2001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Несколько конвертов с белым порошком: 22 человека заболели, 5 погибли. Почту и здания Сената закрывали на месяцы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</a:tr>
              <a:tr h="45415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Письмо с рицином, США, 2013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Конверт с ядом растительного происхождения дошёл до сенатора — никто не пострадал, но тревога была огромной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Наши дни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Главная тревога специалистов — не склады, а лаборатории: технологии удешевились, и создать опасный микроб стало проще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371088"/>
            <a:ext cx="11155680" cy="23571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Вывод: для биологической атаки не нужна армия — иногда хватает одного конверта и почтовой марки.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Четыре группы биологических агентов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Разбор: биологическое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78992"/>
            <a:ext cx="5394960" cy="98374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353311"/>
            <a:ext cx="5047488" cy="983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E8B4E"/>
                </a:solidFill>
                <a:latin typeface="Calibri"/>
              </a:rPr>
              <a:t>Бактерии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3A424C"/>
                </a:solidFill>
                <a:latin typeface="Calibri"/>
              </a:rPr>
              <a:t>Сибирская язва, чума, холера, туляремия. Это живые клетки. Лечатся антибиотиками.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078992"/>
            <a:ext cx="5394960" cy="116154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1384" y="1353311"/>
            <a:ext cx="5047488" cy="11615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Вирусы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3A424C"/>
                </a:solidFill>
                <a:latin typeface="Calibri"/>
              </a:rPr>
              <a:t>Оспа, Эбола, Марбург, жёлтая лихорадка. Мельче бактерий, живут только внутри клеток. Антибиотики на них не действуют.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47872"/>
            <a:ext cx="5394960" cy="116154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3822191"/>
            <a:ext cx="5047488" cy="11615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F4E79"/>
                </a:solidFill>
                <a:latin typeface="Calibri"/>
              </a:rPr>
              <a:t>Риккетсии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3A424C"/>
                </a:solidFill>
                <a:latin typeface="Calibri"/>
              </a:rPr>
              <a:t>Сыпной тиф, Ку-лихорадка. Промежуточные между бактериями и вирусами, передаются через вшей, блох и клещей.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547872"/>
            <a:ext cx="5394960" cy="116154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3822191"/>
            <a:ext cx="5047488" cy="11615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8E44AD"/>
                </a:solidFill>
                <a:latin typeface="Calibri"/>
              </a:rPr>
              <a:t>Токсины (яды)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50" b="0" i="0">
                <a:solidFill>
                  <a:srgbClr val="3A424C"/>
                </a:solidFill>
                <a:latin typeface="Calibri"/>
              </a:rPr>
              <a:t>Ботулотоксин, рицин, стафилококковый энтеротоксин. Это уже не живые организмы, а яды — очень сильные, но не заразные.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77840"/>
            <a:ext cx="11155680" cy="699008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2648" y="5742432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" y="5724144"/>
            <a:ext cx="10497311" cy="699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Ботулотоксин — самый сильный яд из известных науке. Но в ничтожных дозах он лечит: из него сделали знаменитый «ботокс», которым разглаживают морщины и лечат спазмы мышц.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Категории опасности биологических агентов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Разбор: биологическое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27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078992"/>
          <a:ext cx="11155679" cy="1823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6114"/>
                <a:gridCol w="4781005"/>
                <a:gridCol w="371856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Категория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Что туда входит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Почему опасно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</a:tr>
              <a:tr h="61683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52B33"/>
                          </a:solidFill>
                          <a:latin typeface="Calibri"/>
                        </a:rPr>
                        <a:t>A — самая опасная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52B33"/>
                          </a:solidFill>
                          <a:latin typeface="Calibri"/>
                        </a:rPr>
                        <a:t>сибирская язва, оспа, чума, туляремия, ботулизм, геморрагические лихорадки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52B33"/>
                          </a:solidFill>
                          <a:latin typeface="Calibri"/>
                        </a:rPr>
                        <a:t>легко передаются от человека к человеку, высокая смертность, к ним готовятся в первую очередь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52B33"/>
                          </a:solidFill>
                          <a:latin typeface="Calibri"/>
                        </a:rPr>
                        <a:t>B — средняя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52B33"/>
                          </a:solidFill>
                          <a:latin typeface="Calibri"/>
                        </a:rPr>
                        <a:t>бруцеллёз, сап, Ку-лихорадка, рицин, стафилококковый энтеротоксин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52B33"/>
                          </a:solidFill>
                          <a:latin typeface="Calibri"/>
                        </a:rPr>
                        <a:t>распространяются труднее, лечатся успешнее, смертность ниже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52B33"/>
                          </a:solidFill>
                          <a:latin typeface="Calibri"/>
                        </a:rPr>
                        <a:t>C — новые угрозы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52B33"/>
                          </a:solidFill>
                          <a:latin typeface="Calibri"/>
                        </a:rPr>
                        <a:t>вирусы Нипах и хантавирусы, устойчивые к лекарствам бактерии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52B33"/>
                          </a:solidFill>
                          <a:latin typeface="Calibri"/>
                        </a:rPr>
                        <a:t>могут появиться или быть созданы в будущем, лекарств от них пока нет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049142"/>
            <a:ext cx="11155680" cy="4206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Эти категории использует центр по контролю заболеваний США (CDC). По ним планируют, какие вакцины и лекарства держать в запасе.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Защита от биологического оружия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Разбор: биологическое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78992"/>
            <a:ext cx="5486400" cy="119018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225296"/>
            <a:ext cx="5138928" cy="1190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1E8B4E"/>
                </a:solidFill>
                <a:latin typeface="Calibri"/>
              </a:rPr>
              <a:t>До угрозы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Прививки (вакцины) от сибирской язвы, оспы, чумы и других болезней. Чистота: мытьё рук, кипячёная вода, защита продуктов.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525204"/>
            <a:ext cx="5486400" cy="119018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671508"/>
            <a:ext cx="5138928" cy="1190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1E8B4E"/>
                </a:solidFill>
                <a:latin typeface="Calibri"/>
              </a:rPr>
              <a:t>Если угроза уже есть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Маски и респираторы, проветривание и влажная уборка, обеззараживание помещений, защита от насекомых и грызунов.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971417"/>
            <a:ext cx="5486400" cy="119018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117721"/>
            <a:ext cx="5138928" cy="1190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1E8B4E"/>
                </a:solidFill>
                <a:latin typeface="Calibri"/>
              </a:rPr>
              <a:t>Карантин и обсервация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Карантин — полная изоляция очага с охраной, въезд и выезд запрещены. Обсервация — мягче: людей не изолируют полностью, а наблюдают у врачей и измеряют температуру.</a:t>
            </a:r>
          </a:p>
        </p:txBody>
      </p:sp>
      <p:pic>
        <p:nvPicPr>
          <p:cNvPr id="15" name="Picture 14" descr="bsl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078992"/>
            <a:ext cx="5394960" cy="303466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63640" y="4168521"/>
            <a:ext cx="5394960" cy="34391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Работа с опасными микробами в защитном скафандре, лаборатория BSL-4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741037"/>
            <a:ext cx="5394960" cy="1068832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73368" y="4905629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7144" y="4887341"/>
            <a:ext cx="4736592" cy="1068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Самое эффективное средство против биологического оружия — обычная вакцина. Именно прививки остановили оспу и держат под контролем многие опасные болезни.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Биологическое оружие: удивительные факты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Факты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78992"/>
            <a:ext cx="5486400" cy="699008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" y="1243584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1225295"/>
            <a:ext cx="4828032" cy="699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Споры сибирской язвы сохраняются в почве десятки лет — микроб как будто засыпает и ждёт своего часа.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070608"/>
            <a:ext cx="5486400" cy="699008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2648" y="2235200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" y="2216912"/>
            <a:ext cx="4828032" cy="699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Рицин получают из касторовых бобов — из тех же, из которых делают касторовое масло.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62224"/>
            <a:ext cx="5486400" cy="88392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2648" y="3226816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" y="3208528"/>
            <a:ext cx="4828032" cy="88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Чуму разносят блохи, сыпной тиф — вши, а некоторые лихорадки — комары и клещи. Переносчиков тоже используют как оружие.</a:t>
            </a:r>
          </a:p>
        </p:txBody>
      </p:sp>
      <p:pic>
        <p:nvPicPr>
          <p:cNvPr id="18" name="Picture 17" descr="ebo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6245" y="1078992"/>
            <a:ext cx="2289749" cy="23317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3465576"/>
            <a:ext cx="5394960" cy="19024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Вирус Эбола под микроскопом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884422"/>
            <a:ext cx="5394960" cy="88392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5875">
            <a:solidFill>
              <a:srgbClr val="E8B1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73368" y="4049014"/>
            <a:ext cx="384048" cy="256032"/>
          </a:xfrm>
          <a:prstGeom prst="roundRect">
            <a:avLst>
              <a:gd name="adj" fmla="val 30000"/>
            </a:avLst>
          </a:prstGeom>
          <a:solidFill>
            <a:srgbClr val="E8B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4030726"/>
            <a:ext cx="4736592" cy="88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7A2E20"/>
                </a:solidFill>
                <a:latin typeface="Calibri"/>
              </a:rPr>
              <a:t>Оспа официально побеждена в 1980 году. Но образцы вируса хранятся в двух лабораториях — в России и в США, — и это главный риск случайной утечки.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КБТО: запрет есть, а проверки нет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Международное право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78992"/>
            <a:ext cx="5577840" cy="168344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0" i="0">
                <a:solidFill>
                  <a:srgbClr val="252B33"/>
                </a:solidFill>
                <a:latin typeface="Calibri"/>
              </a:rPr>
              <a:t>Конвенция о запрещении биологического и токсинного оружия (КБТО) принята в 1972 году, вступила в силу в 1975-м. Участники — 189 государств.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Что запрещено: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52B33"/>
                </a:solidFill>
                <a:latin typeface="Calibri"/>
              </a:rPr>
              <a:t>— разрабатывать, производить и хранить биологическое оружие;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252B33"/>
                </a:solidFill>
                <a:latin typeface="Calibri"/>
              </a:rPr>
              <a:t>— передавать его кому-либо.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00184"/>
            <a:ext cx="5577840" cy="1375092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3146488"/>
            <a:ext cx="5230368" cy="1375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Calibri"/>
              </a:rPr>
              <a:t>В чём слабость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У КБТО нет механизма проверки: инспекторов, которые приезжают на laboratories, просто не существует. Переговоры о таком механизме сорвались в 2001 году, и с 2023-го страны снова пытаются договориться.</a:t>
            </a:r>
          </a:p>
        </p:txBody>
      </p:sp>
      <p:pic>
        <p:nvPicPr>
          <p:cNvPr id="12" name="Picture 11" descr="anthrax_let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078992"/>
            <a:ext cx="5303520" cy="29851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80" y="4118980"/>
            <a:ext cx="5303520" cy="34391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Письмо с сибирской язвой, отправленное в офис сенатора США, 2001 год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4691496"/>
            <a:ext cx="5303520" cy="137509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4837800"/>
            <a:ext cx="4956048" cy="1375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Calibri"/>
              </a:rPr>
              <a:t>Угрозы XXI века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Синтетическая биология и искусственный интеллект делают создание новых микробов дешевле и проще. А «двойные» лаборатории — мирные снаружи и военные внутри — почти невозможно различить.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Химическое и биологическое оружие: сравнение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Итог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31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078992"/>
          <a:ext cx="11384280" cy="4443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406908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Чем сравниваем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Химическое оружие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Биологическое оружие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Что поражает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ядовитые химические вещества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микробы, вирусы и их яды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Живое или нет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нет, это химия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да, агент живой и размножается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Как быстро действует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сразу: от секунд до часов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не сразу: от нескольких часов до 2–3 недель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Заразно ли для окружающих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да, часто передаётся от человека к человеку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Можно ли остановить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да: зона ограничена местом применения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трудно: болезнь распространяется сама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Масштаб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район, город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город, страна, континент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Как долго сохраняется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от минут до нескольких суток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споры сибирской язвы — десятилетиями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Как заметить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запах, туман, приборы — быстро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только по больным — спустя дни и недели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Защита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противогаз, защитный костюм, противоядия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прививки, маски, гигиена, дезинфекция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Лечение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противоядия (атропин и другие) — быстро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антибиотики, сыворотки; вакцины — заранее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Правила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КЗХО, 1993: 193 страны, работают инспекции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КБТО, 1972: 189 стран, проверок нет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Главная угроза сегодня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террористы, новые яды вроде «Новичка»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52B33"/>
                          </a:solidFill>
                          <a:latin typeface="Calibri"/>
                        </a:rPr>
                        <a:t>лаборатории, синтетическая биология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Памятка: что делать при угрозе применения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Что делать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78992"/>
            <a:ext cx="5486400" cy="137509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225295"/>
            <a:ext cx="5138928" cy="1375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Calibri"/>
              </a:rPr>
              <a:t>Если объявили химическую угрозу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Наденьте противогаз или ватно-марлевую повязку, смоченную водой. Закройте окна и двери, щели заклейте плёнкой или влажной тканью. Не выходите без команды, слушайте сообщения оповещения.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710116"/>
            <a:ext cx="5486400" cy="140195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856420"/>
            <a:ext cx="5138928" cy="14019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1E8B4E"/>
                </a:solidFill>
                <a:latin typeface="Calibri"/>
              </a:rPr>
              <a:t>Если объявили эпидемию или биологическую угрозу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Сделайте прививку, если её предлагают. Носите маску, мойте руки, не пейте сырую воду, не берите чужие вещи и продукты. При симптомах — к врачу, а не на работу.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078992"/>
            <a:ext cx="5394960" cy="1560004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1225296"/>
            <a:ext cx="5047488" cy="15600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Calibri"/>
              </a:rPr>
              <a:t>Чего делать нельзя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3A424C"/>
                </a:solidFill>
                <a:latin typeface="Calibri"/>
              </a:rPr>
              <a:t>— трогать незнакомые пакеты, баллоны, посылки и жидкости; — садиться на землю и прислоняться к технике в зоне заражения; — пить воду из источников и колодцев в зоне ЧС; — уходить «куда глаза глядят» — лучше слушать указания.</a:t>
            </a:r>
          </a:p>
        </p:txBody>
      </p:sp>
      <p:pic>
        <p:nvPicPr>
          <p:cNvPr id="15" name="Picture 14" descr="rkhbz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0970" y="2986468"/>
            <a:ext cx="2400300" cy="1600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63640" y="4641532"/>
            <a:ext cx="5394960" cy="19024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Calibri"/>
              </a:rPr>
              <a:t>Учения: экипировка и действия в зоне заражения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502920" cy="4114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0392B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371600"/>
            <a:ext cx="10332720" cy="41617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1450" b="0" i="0">
                <a:solidFill>
                  <a:srgbClr val="E4ECF6"/>
                </a:solidFill>
                <a:latin typeface="Calibri"/>
              </a:rPr>
              <a:t>Химическое оружие — единственный вид ОМП, который человечеству удалось ликвидировать: 72 304 тонны уничтожены под контролем ОЗХО.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75104"/>
            <a:ext cx="502920" cy="4114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0392B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20824"/>
            <a:ext cx="10332720" cy="41617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1450" b="0" i="0">
                <a:solidFill>
                  <a:srgbClr val="E4ECF6"/>
                </a:solidFill>
                <a:latin typeface="Calibri"/>
              </a:rPr>
              <a:t>Биологическое оружие запрещено, но конвенция не имеет механизма проверки — это главная дыра в системе безопасности.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24328"/>
            <a:ext cx="502920" cy="4114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0392B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70048"/>
            <a:ext cx="10332720" cy="41617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1450" b="0" i="0">
                <a:solidFill>
                  <a:srgbClr val="E4ECF6"/>
                </a:solidFill>
                <a:latin typeface="Calibri"/>
              </a:rPr>
              <a:t>Химическое оружие действует сразу и в одном месте, биологическое — скрытно и способно уйти в эпидемию; поэтому биологическое считают более опасным.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73552"/>
            <a:ext cx="502920" cy="4114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0392B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319272"/>
            <a:ext cx="10332720" cy="208089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1450" b="0" i="0">
                <a:solidFill>
                  <a:srgbClr val="E4ECF6"/>
                </a:solidFill>
                <a:latin typeface="Calibri"/>
              </a:rPr>
              <a:t>Защита есть, и она работает: противогаз и костюм — от химии, прививки и гигиена — от микробов.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22776"/>
            <a:ext cx="502920" cy="4114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0392B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968496"/>
            <a:ext cx="10332720" cy="41617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1450" b="0" i="0">
                <a:solidFill>
                  <a:srgbClr val="E4ECF6"/>
                </a:solidFill>
                <a:latin typeface="Calibri"/>
              </a:rPr>
              <a:t>Главный риск сегодня — не арсеналы государств, а технологии: лаборатории, синтетическая биология и искусственный интеллект.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572000"/>
            <a:ext cx="502920" cy="4114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0392B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617720"/>
            <a:ext cx="10332720" cy="41617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1450" b="0" i="0">
                <a:solidFill>
                  <a:srgbClr val="E4ECF6"/>
                </a:solidFill>
                <a:latin typeface="Calibri"/>
              </a:rPr>
              <a:t>Личная безопасность начинается с простого: слушать оповещение, знать, где укрытие, уметь надеть противогаз или повязку и не трогать подозрительные предметы.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69CB8"/>
                </a:solidFill>
                <a:latin typeface="Calibri"/>
              </a:rPr>
              <a:t>Материалы подготовлены по открытым данным ОЗХО, ООН и CDC на 2026 год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3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8229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082735" cy="5669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Источники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256032"/>
            <a:ext cx="2651760" cy="3657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A9BED6"/>
                </a:solidFill>
                <a:latin typeface="Calibri"/>
              </a:rPr>
              <a:t>Проверено в 2026 году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Химическое и биологическое оружие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73952"/>
            <a:ext cx="7772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34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078992"/>
          <a:ext cx="1115568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86384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Источник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Что использовано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ОЗХО (opcw.org)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уничтожение химического оружия (72 304 тонны, завершение 7 июля 2023 года); доклады по Сирии 2025–2026 годов; отчёты о помощи Украине 2024–2025 годов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ООН, Совет Безопасности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материалы по химическому досье Сирии и по КБТО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КЗХО (1993) и КБТО (1972)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тексты конвенций: что именно запрещено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CDC (США)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категории биологических агентов A, B и C; материалы по сибирской язве и оспе</a:t>
                      </a:r>
                    </a:p>
                  </a:txBody>
                  <a:tcPr marL="73152" marR="73152" marT="27432" marB="27432" anchor="ctr"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Открытые исторические материалы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52B33"/>
                          </a:solidFill>
                          <a:latin typeface="Calibri"/>
                        </a:rPr>
                        <a:t>данные о потерях в Первую мировую войну, Халабдже, Токио-1995, Гуте-2013, Свердловске-1979 и письмах 2001 года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657600"/>
            <a:ext cx="11155680" cy="39217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Calibri"/>
              </a:rPr>
              <a:t>Фотографии: исторические архивы, фотоагентства, материалы пресс-служб, снимки CDC и NIH (открытый доступ). Используются в учебных целях.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